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 id="2147483666" r:id="rId3"/>
  </p:sldMasterIdLst>
  <p:notesMasterIdLst>
    <p:notesMasterId r:id="rId11"/>
  </p:notesMasterIdLst>
  <p:sldIdLst>
    <p:sldId id="263" r:id="rId4"/>
    <p:sldId id="264" r:id="rId5"/>
    <p:sldId id="265" r:id="rId6"/>
    <p:sldId id="260" r:id="rId7"/>
    <p:sldId id="257" r:id="rId8"/>
    <p:sldId id="261" r:id="rId9"/>
    <p:sldId id="262" r:id="rId10"/>
  </p:sldIdLst>
  <p:sldSz cx="18288000" cy="10287000"/>
  <p:notesSz cx="6858000" cy="9144000"/>
  <p:embeddedFontLst>
    <p:embeddedFont>
      <p:font typeface="Cinzel Bold" panose="020B0604020202020204" charset="0"/>
      <p:regular r:id="rId12"/>
    </p:embeddedFont>
    <p:embeddedFont>
      <p:font typeface="Public Sans" panose="020B0604020202020204" charset="0"/>
      <p:regular r:id="rId13"/>
    </p:embeddedFont>
    <p:embeddedFont>
      <p:font typeface="The Seasons"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presProps" Target="pres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620CC6-FC42-4F80-811B-84369816A49D}" type="datetimeFigureOut">
              <a:rPr lang="en-IN" smtClean="0"/>
              <a:t>13-05-2026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AA9A87-BA44-4F1B-9FC4-A453A0A7A0CB}" type="slidenum">
              <a:rPr lang="en-IN" smtClean="0"/>
              <a:t>‹#›</a:t>
            </a:fld>
            <a:endParaRPr lang="en-IN"/>
          </a:p>
        </p:txBody>
      </p:sp>
    </p:spTree>
    <p:extLst>
      <p:ext uri="{BB962C8B-B14F-4D97-AF65-F5344CB8AC3E}">
        <p14:creationId xmlns:p14="http://schemas.microsoft.com/office/powerpoint/2010/main" val="800981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7329AFC-A9E8-43E9-A384-A327A2025AA7}" type="slidenum">
              <a:rPr lang="en-IN" smtClean="0"/>
              <a:t>3</a:t>
            </a:fld>
            <a:endParaRPr lang="en-IN"/>
          </a:p>
        </p:txBody>
      </p:sp>
    </p:spTree>
    <p:extLst>
      <p:ext uri="{BB962C8B-B14F-4D97-AF65-F5344CB8AC3E}">
        <p14:creationId xmlns:p14="http://schemas.microsoft.com/office/powerpoint/2010/main" val="1705456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AA9A87-BA44-4F1B-9FC4-A453A0A7A0CB}" type="slidenum">
              <a:rPr lang="en-IN" smtClean="0"/>
              <a:t>5</a:t>
            </a:fld>
            <a:endParaRPr lang="en-IN"/>
          </a:p>
        </p:txBody>
      </p:sp>
    </p:spTree>
    <p:extLst>
      <p:ext uri="{BB962C8B-B14F-4D97-AF65-F5344CB8AC3E}">
        <p14:creationId xmlns:p14="http://schemas.microsoft.com/office/powerpoint/2010/main" val="3279947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1015663"/>
          </a:xfrm>
          <a:prstGeom prst="rect">
            <a:avLst/>
          </a:prstGeom>
        </p:spPr>
        <p:txBody>
          <a:bodyPr wrap="square" lIns="0" tIns="0" rIns="0" bIns="0">
            <a:spAutoFit/>
          </a:bodyPr>
          <a:lstStyle>
            <a:lvl1pPr>
              <a:defRPr sz="6600" b="1" i="0">
                <a:solidFill>
                  <a:schemeClr val="tx2"/>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2743200" y="5760720"/>
            <a:ext cx="12801600" cy="369332"/>
          </a:xfrm>
          <a:prstGeom prst="rect">
            <a:avLst/>
          </a:prstGeom>
        </p:spPr>
        <p:txBody>
          <a:bodyPr wrap="square" lIns="0" tIns="0" rIns="0" bIns="0">
            <a:spAutoFit/>
          </a:bodyPr>
          <a:lstStyle>
            <a:lvl1pPr>
              <a:defRPr sz="24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23816933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728570" y="7619"/>
            <a:ext cx="12830861" cy="1015663"/>
          </a:xfrm>
        </p:spPr>
        <p:txBody>
          <a:bodyPr lIns="0" tIns="0" rIns="0" bIns="0"/>
          <a:lstStyle>
            <a:lvl1pPr>
              <a:defRPr sz="6600" b="1" i="0">
                <a:solidFill>
                  <a:schemeClr val="tx2"/>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a:xfrm>
            <a:off x="1023938" y="2343473"/>
            <a:ext cx="16217265" cy="369332"/>
          </a:xfrm>
        </p:spPr>
        <p:txBody>
          <a:bodyPr lIns="0" tIns="0" rIns="0" bIns="0"/>
          <a:lstStyle>
            <a:lvl1pPr>
              <a:defRPr sz="24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66517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728570" y="7619"/>
            <a:ext cx="12830861" cy="1015663"/>
          </a:xfrm>
        </p:spPr>
        <p:txBody>
          <a:bodyPr lIns="0" tIns="0" rIns="0" bIns="0"/>
          <a:lstStyle>
            <a:lvl1pPr>
              <a:defRPr sz="6600" b="1" i="0">
                <a:solidFill>
                  <a:schemeClr val="tx2"/>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914400" y="2366010"/>
            <a:ext cx="7955280" cy="24622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24622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36765479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2728570" y="7619"/>
            <a:ext cx="12830861" cy="1015663"/>
          </a:xfrm>
        </p:spPr>
        <p:txBody>
          <a:bodyPr lIns="0" tIns="0" rIns="0" bIns="0"/>
          <a:lstStyle>
            <a:lvl1pPr>
              <a:defRPr sz="6600" b="1" i="0">
                <a:solidFill>
                  <a:schemeClr val="tx2"/>
                </a:solidFill>
                <a:latin typeface="Times New Roman" panose="02020603050405020304"/>
                <a:cs typeface="Times New Roman" panose="020206030504050203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3298900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10114409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1015663"/>
          </a:xfrm>
          <a:prstGeom prst="rect">
            <a:avLst/>
          </a:prstGeom>
        </p:spPr>
        <p:txBody>
          <a:bodyPr wrap="square" lIns="0" tIns="0" rIns="0" bIns="0">
            <a:spAutoFit/>
          </a:bodyPr>
          <a:lstStyle>
            <a:lvl1pPr>
              <a:defRPr sz="6600" b="1" i="0">
                <a:solidFill>
                  <a:schemeClr val="tx2"/>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2743200" y="5760720"/>
            <a:ext cx="12801600" cy="369332"/>
          </a:xfrm>
          <a:prstGeom prst="rect">
            <a:avLst/>
          </a:prstGeom>
        </p:spPr>
        <p:txBody>
          <a:bodyPr wrap="square" lIns="0" tIns="0" rIns="0" bIns="0">
            <a:spAutoFit/>
          </a:bodyPr>
          <a:lstStyle>
            <a:lvl1pPr>
              <a:defRPr sz="24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37972497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728570" y="7619"/>
            <a:ext cx="12830861" cy="1015663"/>
          </a:xfrm>
        </p:spPr>
        <p:txBody>
          <a:bodyPr lIns="0" tIns="0" rIns="0" bIns="0"/>
          <a:lstStyle>
            <a:lvl1pPr>
              <a:defRPr sz="6600" b="1" i="0">
                <a:solidFill>
                  <a:schemeClr val="tx2"/>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a:xfrm>
            <a:off x="1023938" y="2343473"/>
            <a:ext cx="16217265" cy="369332"/>
          </a:xfrm>
        </p:spPr>
        <p:txBody>
          <a:bodyPr lIns="0" tIns="0" rIns="0" bIns="0"/>
          <a:lstStyle>
            <a:lvl1pPr>
              <a:defRPr sz="24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4745553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728570" y="7619"/>
            <a:ext cx="12830861" cy="1015663"/>
          </a:xfrm>
        </p:spPr>
        <p:txBody>
          <a:bodyPr lIns="0" tIns="0" rIns="0" bIns="0"/>
          <a:lstStyle>
            <a:lvl1pPr>
              <a:defRPr sz="6600" b="1" i="0">
                <a:solidFill>
                  <a:schemeClr val="tx2"/>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914400" y="2366010"/>
            <a:ext cx="7955280" cy="24622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24622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14833389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2728570" y="7619"/>
            <a:ext cx="12830861" cy="1015663"/>
          </a:xfrm>
        </p:spPr>
        <p:txBody>
          <a:bodyPr lIns="0" tIns="0" rIns="0" bIns="0"/>
          <a:lstStyle>
            <a:lvl1pPr>
              <a:defRPr sz="6600" b="1" i="0">
                <a:solidFill>
                  <a:schemeClr val="tx2"/>
                </a:solidFill>
                <a:latin typeface="Times New Roman" panose="02020603050405020304"/>
                <a:cs typeface="Times New Roman" panose="020206030504050203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34982028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2217249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heme" Target="../theme/theme3.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EFF6FF">
                <a:alpha val="100000"/>
              </a:srgbClr>
            </a:gs>
            <a:gs pos="100000">
              <a:srgbClr val="5698FF">
                <a:alpha val="100000"/>
              </a:srgbClr>
            </a:gs>
          </a:gsLst>
          <a:lin ang="27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EFF6FF">
                <a:alpha val="100000"/>
              </a:srgbClr>
            </a:gs>
            <a:gs pos="100000">
              <a:srgbClr val="5698FF">
                <a:alpha val="100000"/>
              </a:srgbClr>
            </a:gs>
          </a:gsLst>
          <a:lin ang="2700000" scaled="0"/>
          <a:tileRect/>
        </a:gra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728570" y="7619"/>
            <a:ext cx="12830861" cy="677108"/>
          </a:xfrm>
          <a:prstGeom prst="rect">
            <a:avLst/>
          </a:prstGeom>
        </p:spPr>
        <p:txBody>
          <a:bodyPr wrap="square" lIns="0" tIns="0" rIns="0" bIns="0">
            <a:spAutoFit/>
          </a:bodyPr>
          <a:lstStyle>
            <a:lvl1pPr>
              <a:defRPr sz="4400" b="1" i="0">
                <a:solidFill>
                  <a:schemeClr val="tx2"/>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a:xfrm>
            <a:off x="1023938" y="2343473"/>
            <a:ext cx="16217265" cy="246221"/>
          </a:xfrm>
          <a:prstGeom prst="rect">
            <a:avLst/>
          </a:prstGeom>
        </p:spPr>
        <p:txBody>
          <a:bodyPr wrap="square" lIns="0" tIns="0" rIns="0" bIns="0">
            <a:spAutoFit/>
          </a:bodyPr>
          <a:lstStyle>
            <a:lvl1pPr>
              <a:defRPr sz="16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a:xfrm>
            <a:off x="6217920" y="9566910"/>
            <a:ext cx="585216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a:xfrm>
            <a:off x="13167360" y="9566910"/>
            <a:ext cx="420624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31242726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685800">
        <a:defRPr>
          <a:latin typeface="+mn-lt"/>
          <a:ea typeface="+mn-ea"/>
          <a:cs typeface="+mn-cs"/>
        </a:defRPr>
      </a:lvl2pPr>
      <a:lvl3pPr marL="1371600">
        <a:defRPr>
          <a:latin typeface="+mn-lt"/>
          <a:ea typeface="+mn-ea"/>
          <a:cs typeface="+mn-cs"/>
        </a:defRPr>
      </a:lvl3pPr>
      <a:lvl4pPr marL="2057400">
        <a:defRPr>
          <a:latin typeface="+mn-lt"/>
          <a:ea typeface="+mn-ea"/>
          <a:cs typeface="+mn-cs"/>
        </a:defRPr>
      </a:lvl4pPr>
      <a:lvl5pPr marL="2743200">
        <a:defRPr>
          <a:latin typeface="+mn-lt"/>
          <a:ea typeface="+mn-ea"/>
          <a:cs typeface="+mn-cs"/>
        </a:defRPr>
      </a:lvl5pPr>
      <a:lvl6pPr marL="3429000">
        <a:defRPr>
          <a:latin typeface="+mn-lt"/>
          <a:ea typeface="+mn-ea"/>
          <a:cs typeface="+mn-cs"/>
        </a:defRPr>
      </a:lvl6pPr>
      <a:lvl7pPr marL="4114800">
        <a:defRPr>
          <a:latin typeface="+mn-lt"/>
          <a:ea typeface="+mn-ea"/>
          <a:cs typeface="+mn-cs"/>
        </a:defRPr>
      </a:lvl7pPr>
      <a:lvl8pPr marL="4800600">
        <a:defRPr>
          <a:latin typeface="+mn-lt"/>
          <a:ea typeface="+mn-ea"/>
          <a:cs typeface="+mn-cs"/>
        </a:defRPr>
      </a:lvl8pPr>
      <a:lvl9pPr marL="5486400">
        <a:defRPr>
          <a:latin typeface="+mn-lt"/>
          <a:ea typeface="+mn-ea"/>
          <a:cs typeface="+mn-cs"/>
        </a:defRPr>
      </a:lvl9pPr>
    </p:bodyStyle>
    <p:otherStyle>
      <a:lvl1pPr marL="0">
        <a:defRPr>
          <a:latin typeface="+mn-lt"/>
          <a:ea typeface="+mn-ea"/>
          <a:cs typeface="+mn-cs"/>
        </a:defRPr>
      </a:lvl1pPr>
      <a:lvl2pPr marL="685800">
        <a:defRPr>
          <a:latin typeface="+mn-lt"/>
          <a:ea typeface="+mn-ea"/>
          <a:cs typeface="+mn-cs"/>
        </a:defRPr>
      </a:lvl2pPr>
      <a:lvl3pPr marL="1371600">
        <a:defRPr>
          <a:latin typeface="+mn-lt"/>
          <a:ea typeface="+mn-ea"/>
          <a:cs typeface="+mn-cs"/>
        </a:defRPr>
      </a:lvl3pPr>
      <a:lvl4pPr marL="2057400">
        <a:defRPr>
          <a:latin typeface="+mn-lt"/>
          <a:ea typeface="+mn-ea"/>
          <a:cs typeface="+mn-cs"/>
        </a:defRPr>
      </a:lvl4pPr>
      <a:lvl5pPr marL="2743200">
        <a:defRPr>
          <a:latin typeface="+mn-lt"/>
          <a:ea typeface="+mn-ea"/>
          <a:cs typeface="+mn-cs"/>
        </a:defRPr>
      </a:lvl5pPr>
      <a:lvl6pPr marL="3429000">
        <a:defRPr>
          <a:latin typeface="+mn-lt"/>
          <a:ea typeface="+mn-ea"/>
          <a:cs typeface="+mn-cs"/>
        </a:defRPr>
      </a:lvl6pPr>
      <a:lvl7pPr marL="4114800">
        <a:defRPr>
          <a:latin typeface="+mn-lt"/>
          <a:ea typeface="+mn-ea"/>
          <a:cs typeface="+mn-cs"/>
        </a:defRPr>
      </a:lvl7pPr>
      <a:lvl8pPr marL="4800600">
        <a:defRPr>
          <a:latin typeface="+mn-lt"/>
          <a:ea typeface="+mn-ea"/>
          <a:cs typeface="+mn-cs"/>
        </a:defRPr>
      </a:lvl8pPr>
      <a:lvl9pPr marL="54864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EFF6FF">
                <a:alpha val="100000"/>
              </a:srgbClr>
            </a:gs>
            <a:gs pos="100000">
              <a:srgbClr val="5698FF">
                <a:alpha val="100000"/>
              </a:srgbClr>
            </a:gs>
          </a:gsLst>
          <a:lin ang="2700000" scaled="0"/>
          <a:tileRect/>
        </a:gra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728570" y="7619"/>
            <a:ext cx="12830861" cy="677108"/>
          </a:xfrm>
          <a:prstGeom prst="rect">
            <a:avLst/>
          </a:prstGeom>
        </p:spPr>
        <p:txBody>
          <a:bodyPr wrap="square" lIns="0" tIns="0" rIns="0" bIns="0">
            <a:spAutoFit/>
          </a:bodyPr>
          <a:lstStyle>
            <a:lvl1pPr>
              <a:defRPr sz="4400" b="1" i="0">
                <a:solidFill>
                  <a:schemeClr val="tx2"/>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a:xfrm>
            <a:off x="1023938" y="2343473"/>
            <a:ext cx="16217265" cy="246221"/>
          </a:xfrm>
          <a:prstGeom prst="rect">
            <a:avLst/>
          </a:prstGeom>
        </p:spPr>
        <p:txBody>
          <a:bodyPr wrap="square" lIns="0" tIns="0" rIns="0" bIns="0">
            <a:spAutoFit/>
          </a:bodyPr>
          <a:lstStyle>
            <a:lvl1pPr>
              <a:defRPr sz="16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a:xfrm>
            <a:off x="6217920" y="9566910"/>
            <a:ext cx="585216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a:xfrm>
            <a:off x="13167360" y="9566910"/>
            <a:ext cx="420624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3194504355"/>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defRPr>
          <a:latin typeface="+mj-lt"/>
          <a:ea typeface="+mj-ea"/>
          <a:cs typeface="+mj-cs"/>
        </a:defRPr>
      </a:lvl1pPr>
    </p:titleStyle>
    <p:bodyStyle>
      <a:lvl1pPr marL="0">
        <a:defRPr>
          <a:latin typeface="+mn-lt"/>
          <a:ea typeface="+mn-ea"/>
          <a:cs typeface="+mn-cs"/>
        </a:defRPr>
      </a:lvl1pPr>
      <a:lvl2pPr marL="685800">
        <a:defRPr>
          <a:latin typeface="+mn-lt"/>
          <a:ea typeface="+mn-ea"/>
          <a:cs typeface="+mn-cs"/>
        </a:defRPr>
      </a:lvl2pPr>
      <a:lvl3pPr marL="1371600">
        <a:defRPr>
          <a:latin typeface="+mn-lt"/>
          <a:ea typeface="+mn-ea"/>
          <a:cs typeface="+mn-cs"/>
        </a:defRPr>
      </a:lvl3pPr>
      <a:lvl4pPr marL="2057400">
        <a:defRPr>
          <a:latin typeface="+mn-lt"/>
          <a:ea typeface="+mn-ea"/>
          <a:cs typeface="+mn-cs"/>
        </a:defRPr>
      </a:lvl4pPr>
      <a:lvl5pPr marL="2743200">
        <a:defRPr>
          <a:latin typeface="+mn-lt"/>
          <a:ea typeface="+mn-ea"/>
          <a:cs typeface="+mn-cs"/>
        </a:defRPr>
      </a:lvl5pPr>
      <a:lvl6pPr marL="3429000">
        <a:defRPr>
          <a:latin typeface="+mn-lt"/>
          <a:ea typeface="+mn-ea"/>
          <a:cs typeface="+mn-cs"/>
        </a:defRPr>
      </a:lvl6pPr>
      <a:lvl7pPr marL="4114800">
        <a:defRPr>
          <a:latin typeface="+mn-lt"/>
          <a:ea typeface="+mn-ea"/>
          <a:cs typeface="+mn-cs"/>
        </a:defRPr>
      </a:lvl7pPr>
      <a:lvl8pPr marL="4800600">
        <a:defRPr>
          <a:latin typeface="+mn-lt"/>
          <a:ea typeface="+mn-ea"/>
          <a:cs typeface="+mn-cs"/>
        </a:defRPr>
      </a:lvl8pPr>
      <a:lvl9pPr marL="5486400">
        <a:defRPr>
          <a:latin typeface="+mn-lt"/>
          <a:ea typeface="+mn-ea"/>
          <a:cs typeface="+mn-cs"/>
        </a:defRPr>
      </a:lvl9pPr>
    </p:bodyStyle>
    <p:otherStyle>
      <a:lvl1pPr marL="0">
        <a:defRPr>
          <a:latin typeface="+mn-lt"/>
          <a:ea typeface="+mn-ea"/>
          <a:cs typeface="+mn-cs"/>
        </a:defRPr>
      </a:lvl1pPr>
      <a:lvl2pPr marL="685800">
        <a:defRPr>
          <a:latin typeface="+mn-lt"/>
          <a:ea typeface="+mn-ea"/>
          <a:cs typeface="+mn-cs"/>
        </a:defRPr>
      </a:lvl2pPr>
      <a:lvl3pPr marL="1371600">
        <a:defRPr>
          <a:latin typeface="+mn-lt"/>
          <a:ea typeface="+mn-ea"/>
          <a:cs typeface="+mn-cs"/>
        </a:defRPr>
      </a:lvl3pPr>
      <a:lvl4pPr marL="2057400">
        <a:defRPr>
          <a:latin typeface="+mn-lt"/>
          <a:ea typeface="+mn-ea"/>
          <a:cs typeface="+mn-cs"/>
        </a:defRPr>
      </a:lvl4pPr>
      <a:lvl5pPr marL="2743200">
        <a:defRPr>
          <a:latin typeface="+mn-lt"/>
          <a:ea typeface="+mn-ea"/>
          <a:cs typeface="+mn-cs"/>
        </a:defRPr>
      </a:lvl5pPr>
      <a:lvl6pPr marL="3429000">
        <a:defRPr>
          <a:latin typeface="+mn-lt"/>
          <a:ea typeface="+mn-ea"/>
          <a:cs typeface="+mn-cs"/>
        </a:defRPr>
      </a:lvl6pPr>
      <a:lvl7pPr marL="4114800">
        <a:defRPr>
          <a:latin typeface="+mn-lt"/>
          <a:ea typeface="+mn-ea"/>
          <a:cs typeface="+mn-cs"/>
        </a:defRPr>
      </a:lvl7pPr>
      <a:lvl8pPr marL="4800600">
        <a:defRPr>
          <a:latin typeface="+mn-lt"/>
          <a:ea typeface="+mn-ea"/>
          <a:cs typeface="+mn-cs"/>
        </a:defRPr>
      </a:lvl8pPr>
      <a:lvl9pPr marL="54864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8569" y="3200401"/>
            <a:ext cx="12458700" cy="1034899"/>
          </a:xfrm>
          <a:prstGeom prst="rect">
            <a:avLst/>
          </a:prstGeom>
        </p:spPr>
        <p:txBody>
          <a:bodyPr vert="horz" wrap="square" lIns="0" tIns="19050" rIns="0" bIns="0" rtlCol="0">
            <a:spAutoFit/>
          </a:bodyPr>
          <a:lstStyle/>
          <a:p>
            <a:pPr marL="560070" marR="7620" indent="-541973" algn="ctr">
              <a:spcBef>
                <a:spcPts val="150"/>
              </a:spcBef>
            </a:pPr>
            <a:r>
              <a:rPr sz="3300" dirty="0">
                <a:solidFill>
                  <a:srgbClr val="000000"/>
                </a:solidFill>
              </a:rPr>
              <a:t>Department</a:t>
            </a:r>
            <a:r>
              <a:rPr sz="3300" spc="-105" dirty="0">
                <a:solidFill>
                  <a:srgbClr val="000000"/>
                </a:solidFill>
              </a:rPr>
              <a:t> </a:t>
            </a:r>
            <a:r>
              <a:rPr sz="3300" dirty="0">
                <a:solidFill>
                  <a:srgbClr val="000000"/>
                </a:solidFill>
              </a:rPr>
              <a:t>of</a:t>
            </a:r>
            <a:r>
              <a:rPr sz="3300" spc="-98" dirty="0">
                <a:solidFill>
                  <a:srgbClr val="000000"/>
                </a:solidFill>
              </a:rPr>
              <a:t> </a:t>
            </a:r>
            <a:r>
              <a:rPr sz="3300" spc="-15" dirty="0">
                <a:solidFill>
                  <a:srgbClr val="000000"/>
                </a:solidFill>
              </a:rPr>
              <a:t>CSE(AI&amp;ML) </a:t>
            </a:r>
            <a:br>
              <a:rPr lang="en-US" sz="3300" spc="-15" dirty="0">
                <a:solidFill>
                  <a:srgbClr val="000000"/>
                </a:solidFill>
              </a:rPr>
            </a:br>
            <a:r>
              <a:rPr sz="3300" dirty="0">
                <a:solidFill>
                  <a:srgbClr val="000000"/>
                </a:solidFill>
              </a:rPr>
              <a:t>Academic</a:t>
            </a:r>
            <a:r>
              <a:rPr sz="3300" spc="-105" dirty="0">
                <a:solidFill>
                  <a:srgbClr val="000000"/>
                </a:solidFill>
              </a:rPr>
              <a:t> </a:t>
            </a:r>
            <a:r>
              <a:rPr sz="3300" dirty="0">
                <a:solidFill>
                  <a:srgbClr val="000000"/>
                </a:solidFill>
              </a:rPr>
              <a:t>year:</a:t>
            </a:r>
            <a:r>
              <a:rPr sz="3300" spc="-98" dirty="0">
                <a:solidFill>
                  <a:srgbClr val="000000"/>
                </a:solidFill>
              </a:rPr>
              <a:t> </a:t>
            </a:r>
            <a:r>
              <a:rPr sz="3300" spc="-30" dirty="0">
                <a:solidFill>
                  <a:srgbClr val="000000"/>
                </a:solidFill>
              </a:rPr>
              <a:t>202</a:t>
            </a:r>
            <a:r>
              <a:rPr lang="en-US" sz="3300" spc="-30" dirty="0">
                <a:solidFill>
                  <a:srgbClr val="000000"/>
                </a:solidFill>
              </a:rPr>
              <a:t>6</a:t>
            </a:r>
            <a:r>
              <a:rPr sz="3300" spc="-30" dirty="0">
                <a:solidFill>
                  <a:srgbClr val="000000"/>
                </a:solidFill>
              </a:rPr>
              <a:t>-</a:t>
            </a:r>
            <a:r>
              <a:rPr sz="3300" spc="-38" dirty="0">
                <a:solidFill>
                  <a:srgbClr val="000000"/>
                </a:solidFill>
              </a:rPr>
              <a:t>2</a:t>
            </a:r>
            <a:r>
              <a:rPr lang="en-US" sz="3300" spc="-38" dirty="0">
                <a:solidFill>
                  <a:srgbClr val="000000"/>
                </a:solidFill>
              </a:rPr>
              <a:t>7</a:t>
            </a:r>
          </a:p>
        </p:txBody>
      </p:sp>
      <p:sp>
        <p:nvSpPr>
          <p:cNvPr id="3" name="object 3"/>
          <p:cNvSpPr txBox="1"/>
          <p:nvPr/>
        </p:nvSpPr>
        <p:spPr>
          <a:xfrm>
            <a:off x="2857500" y="4112192"/>
            <a:ext cx="12458700" cy="1567417"/>
          </a:xfrm>
          <a:prstGeom prst="rect">
            <a:avLst/>
          </a:prstGeom>
        </p:spPr>
        <p:txBody>
          <a:bodyPr vert="horz" wrap="square" lIns="0" tIns="246698" rIns="0" bIns="0" rtlCol="0">
            <a:spAutoFit/>
          </a:bodyPr>
          <a:lstStyle/>
          <a:p>
            <a:pPr algn="ctr" defTabSz="1371600">
              <a:spcBef>
                <a:spcPts val="1943"/>
              </a:spcBef>
            </a:pPr>
            <a:r>
              <a:rPr lang="en-IN" sz="3300" b="1" kern="0" dirty="0">
                <a:solidFill>
                  <a:sysClr val="windowText" lastClr="000000"/>
                </a:solidFill>
                <a:latin typeface="Times New Roman" panose="02020603050405020304"/>
                <a:cs typeface="Times New Roman" panose="02020603050405020304"/>
              </a:rPr>
              <a:t>Project Phase I</a:t>
            </a:r>
            <a:r>
              <a:rPr sz="3300" b="1" kern="0" spc="-53" dirty="0">
                <a:solidFill>
                  <a:sysClr val="windowText" lastClr="000000"/>
                </a:solidFill>
                <a:latin typeface="Times New Roman" panose="02020603050405020304"/>
                <a:cs typeface="Times New Roman" panose="02020603050405020304"/>
              </a:rPr>
              <a:t> </a:t>
            </a:r>
            <a:r>
              <a:rPr sz="3300" b="1" kern="0" dirty="0">
                <a:solidFill>
                  <a:sysClr val="windowText" lastClr="000000"/>
                </a:solidFill>
                <a:latin typeface="Times New Roman" panose="02020603050405020304"/>
                <a:cs typeface="Times New Roman" panose="02020603050405020304"/>
              </a:rPr>
              <a:t>(</a:t>
            </a:r>
            <a:r>
              <a:rPr lang="en-US" sz="3300" b="1" kern="0" dirty="0">
                <a:solidFill>
                  <a:sysClr val="windowText" lastClr="000000"/>
                </a:solidFill>
                <a:latin typeface="Times New Roman" panose="02020603050405020304"/>
                <a:cs typeface="Times New Roman" panose="02020603050405020304"/>
              </a:rPr>
              <a:t>BCI685</a:t>
            </a:r>
            <a:r>
              <a:rPr sz="3300" b="1" kern="0" dirty="0">
                <a:solidFill>
                  <a:sysClr val="windowText" lastClr="000000"/>
                </a:solidFill>
                <a:latin typeface="Times New Roman" panose="02020603050405020304"/>
                <a:cs typeface="Times New Roman" panose="02020603050405020304"/>
              </a:rPr>
              <a:t>)</a:t>
            </a:r>
            <a:r>
              <a:rPr sz="3300" b="1" kern="0" spc="-53" dirty="0">
                <a:solidFill>
                  <a:sysClr val="windowText" lastClr="000000"/>
                </a:solidFill>
                <a:latin typeface="Times New Roman" panose="02020603050405020304"/>
                <a:cs typeface="Times New Roman" panose="02020603050405020304"/>
              </a:rPr>
              <a:t> </a:t>
            </a:r>
            <a:r>
              <a:rPr sz="3300" b="1" kern="0" dirty="0">
                <a:solidFill>
                  <a:sysClr val="windowText" lastClr="000000"/>
                </a:solidFill>
                <a:latin typeface="Times New Roman" panose="02020603050405020304"/>
                <a:cs typeface="Times New Roman" panose="02020603050405020304"/>
              </a:rPr>
              <a:t>–</a:t>
            </a:r>
            <a:r>
              <a:rPr sz="3300" b="1" kern="0" spc="-53" dirty="0">
                <a:solidFill>
                  <a:sysClr val="windowText" lastClr="000000"/>
                </a:solidFill>
                <a:latin typeface="Times New Roman" panose="02020603050405020304"/>
                <a:cs typeface="Times New Roman" panose="02020603050405020304"/>
              </a:rPr>
              <a:t> </a:t>
            </a:r>
            <a:r>
              <a:rPr sz="3300" b="1" kern="0" spc="-15" dirty="0">
                <a:solidFill>
                  <a:sysClr val="windowText" lastClr="000000"/>
                </a:solidFill>
                <a:latin typeface="Times New Roman" panose="02020603050405020304"/>
                <a:cs typeface="Times New Roman" panose="02020603050405020304"/>
              </a:rPr>
              <a:t>Presentation</a:t>
            </a:r>
            <a:r>
              <a:rPr lang="en-US" sz="3300" b="1" kern="0" spc="-15" dirty="0">
                <a:solidFill>
                  <a:sysClr val="windowText" lastClr="000000"/>
                </a:solidFill>
                <a:latin typeface="Times New Roman" panose="02020603050405020304"/>
                <a:cs typeface="Times New Roman" panose="02020603050405020304"/>
              </a:rPr>
              <a:t> 1</a:t>
            </a:r>
            <a:endParaRPr sz="3300" kern="0" dirty="0">
              <a:solidFill>
                <a:sysClr val="windowText" lastClr="000000"/>
              </a:solidFill>
              <a:latin typeface="Times New Roman" panose="02020603050405020304"/>
              <a:cs typeface="Times New Roman" panose="02020603050405020304"/>
            </a:endParaRPr>
          </a:p>
          <a:p>
            <a:pPr marR="63818" algn="ctr" defTabSz="1371600">
              <a:spcBef>
                <a:spcPts val="1958"/>
              </a:spcBef>
            </a:pPr>
            <a:r>
              <a:rPr sz="3600" b="1" kern="0" dirty="0">
                <a:solidFill>
                  <a:sysClr val="windowText" lastClr="000000"/>
                </a:solidFill>
                <a:latin typeface="Times New Roman" panose="02020603050405020304"/>
                <a:cs typeface="Times New Roman" panose="02020603050405020304"/>
              </a:rPr>
              <a:t>Project</a:t>
            </a:r>
            <a:r>
              <a:rPr sz="3600" b="1" kern="0" spc="-150" dirty="0">
                <a:solidFill>
                  <a:sysClr val="windowText" lastClr="000000"/>
                </a:solidFill>
                <a:latin typeface="Times New Roman" panose="02020603050405020304"/>
                <a:cs typeface="Times New Roman" panose="02020603050405020304"/>
              </a:rPr>
              <a:t> </a:t>
            </a:r>
            <a:r>
              <a:rPr sz="3600" b="1" kern="0" spc="-15" dirty="0">
                <a:solidFill>
                  <a:sysClr val="windowText" lastClr="000000"/>
                </a:solidFill>
                <a:latin typeface="Times New Roman" panose="02020603050405020304"/>
                <a:cs typeface="Times New Roman" panose="02020603050405020304"/>
              </a:rPr>
              <a:t>Title</a:t>
            </a:r>
            <a:r>
              <a:rPr lang="en-US" sz="3600" b="1" kern="0" spc="-15" dirty="0">
                <a:solidFill>
                  <a:sysClr val="windowText" lastClr="000000"/>
                </a:solidFill>
                <a:latin typeface="Times New Roman" panose="02020603050405020304"/>
                <a:cs typeface="Times New Roman" panose="02020603050405020304"/>
              </a:rPr>
              <a:t>: G-CARE</a:t>
            </a:r>
          </a:p>
        </p:txBody>
      </p:sp>
      <p:sp>
        <p:nvSpPr>
          <p:cNvPr id="4" name="object 4"/>
          <p:cNvSpPr txBox="1"/>
          <p:nvPr/>
        </p:nvSpPr>
        <p:spPr>
          <a:xfrm>
            <a:off x="12853036" y="6746558"/>
            <a:ext cx="5213033" cy="2563907"/>
          </a:xfrm>
          <a:prstGeom prst="rect">
            <a:avLst/>
          </a:prstGeom>
        </p:spPr>
        <p:txBody>
          <a:bodyPr vert="horz" wrap="square" lIns="0" tIns="72390" rIns="0" bIns="0" rtlCol="0">
            <a:spAutoFit/>
          </a:bodyPr>
          <a:lstStyle/>
          <a:p>
            <a:pPr marL="19050" defTabSz="1371600">
              <a:spcBef>
                <a:spcPts val="570"/>
              </a:spcBef>
            </a:pPr>
            <a:r>
              <a:rPr sz="3000" b="1" kern="0" spc="-15" dirty="0">
                <a:solidFill>
                  <a:sysClr val="windowText" lastClr="000000"/>
                </a:solidFill>
                <a:latin typeface="Times New Roman" panose="02020603050405020304"/>
                <a:cs typeface="Times New Roman" panose="02020603050405020304"/>
              </a:rPr>
              <a:t>GUIDE:</a:t>
            </a:r>
            <a:endParaRPr sz="3000" kern="0" dirty="0">
              <a:solidFill>
                <a:sysClr val="windowText" lastClr="000000"/>
              </a:solidFill>
              <a:latin typeface="Times New Roman" panose="02020603050405020304"/>
              <a:cs typeface="Times New Roman" panose="02020603050405020304"/>
            </a:endParaRPr>
          </a:p>
          <a:p>
            <a:pPr marL="19050" marR="7620" defTabSz="1371600">
              <a:lnSpc>
                <a:spcPct val="112000"/>
              </a:lnSpc>
            </a:pPr>
            <a:r>
              <a:rPr lang="en-US" sz="3000" kern="0" spc="-30" dirty="0">
                <a:solidFill>
                  <a:sysClr val="windowText" lastClr="000000"/>
                </a:solidFill>
                <a:latin typeface="Times New Roman" panose="02020603050405020304"/>
                <a:cs typeface="Times New Roman" panose="02020603050405020304"/>
              </a:rPr>
              <a:t>Asst. Prof. Sreehari M</a:t>
            </a:r>
            <a:endParaRPr sz="3000" kern="0" spc="-30" dirty="0">
              <a:solidFill>
                <a:sysClr val="windowText" lastClr="000000"/>
              </a:solidFill>
              <a:latin typeface="Times New Roman" panose="02020603050405020304"/>
              <a:cs typeface="Times New Roman" panose="02020603050405020304"/>
            </a:endParaRPr>
          </a:p>
          <a:p>
            <a:pPr marL="19050" marR="7620" defTabSz="1371600">
              <a:lnSpc>
                <a:spcPct val="112000"/>
              </a:lnSpc>
            </a:pPr>
            <a:r>
              <a:rPr lang="en-US" sz="3000" kern="0" spc="-15" dirty="0">
                <a:solidFill>
                  <a:sysClr val="windowText" lastClr="000000"/>
                </a:solidFill>
                <a:latin typeface="Times New Roman" panose="02020603050405020304"/>
                <a:cs typeface="Times New Roman" panose="02020603050405020304"/>
              </a:rPr>
              <a:t>Assistant Professor </a:t>
            </a:r>
            <a:r>
              <a:rPr sz="3000" kern="0" spc="-15" dirty="0">
                <a:solidFill>
                  <a:sysClr val="windowText" lastClr="000000"/>
                </a:solidFill>
                <a:latin typeface="Times New Roman" panose="02020603050405020304"/>
                <a:cs typeface="Times New Roman" panose="02020603050405020304"/>
              </a:rPr>
              <a:t> </a:t>
            </a:r>
          </a:p>
          <a:p>
            <a:pPr marL="19050" marR="7620" defTabSz="1371600">
              <a:lnSpc>
                <a:spcPct val="112000"/>
              </a:lnSpc>
            </a:pPr>
            <a:r>
              <a:rPr sz="3000" kern="0" dirty="0">
                <a:solidFill>
                  <a:sysClr val="windowText" lastClr="000000"/>
                </a:solidFill>
                <a:latin typeface="Times New Roman" panose="02020603050405020304"/>
                <a:cs typeface="Times New Roman" panose="02020603050405020304"/>
              </a:rPr>
              <a:t>Department</a:t>
            </a:r>
            <a:r>
              <a:rPr sz="3000" kern="0" spc="-45" dirty="0">
                <a:solidFill>
                  <a:sysClr val="windowText" lastClr="000000"/>
                </a:solidFill>
                <a:latin typeface="Times New Roman" panose="02020603050405020304"/>
                <a:cs typeface="Times New Roman" panose="02020603050405020304"/>
              </a:rPr>
              <a:t> </a:t>
            </a:r>
            <a:r>
              <a:rPr sz="3000" kern="0" dirty="0">
                <a:solidFill>
                  <a:sysClr val="windowText" lastClr="000000"/>
                </a:solidFill>
                <a:latin typeface="Times New Roman" panose="02020603050405020304"/>
                <a:cs typeface="Times New Roman" panose="02020603050405020304"/>
              </a:rPr>
              <a:t>of</a:t>
            </a:r>
            <a:r>
              <a:rPr sz="3000" kern="0" spc="-30" dirty="0">
                <a:solidFill>
                  <a:sysClr val="windowText" lastClr="000000"/>
                </a:solidFill>
                <a:latin typeface="Times New Roman" panose="02020603050405020304"/>
                <a:cs typeface="Times New Roman" panose="02020603050405020304"/>
              </a:rPr>
              <a:t> </a:t>
            </a:r>
            <a:r>
              <a:rPr sz="3000" kern="0" noProof="1">
                <a:solidFill>
                  <a:sysClr val="windowText" lastClr="000000"/>
                </a:solidFill>
                <a:latin typeface="Times New Roman" panose="02020603050405020304"/>
                <a:ea typeface="Arial" panose="020B0604020202020204" pitchFamily="34" charset="0"/>
                <a:cs typeface="Times New Roman" panose="02020603050405020304"/>
                <a:sym typeface="+mn-ea"/>
              </a:rPr>
              <a:t>CSE(AI&amp;ML)</a:t>
            </a:r>
          </a:p>
          <a:p>
            <a:pPr marL="19050" marR="7620" defTabSz="1371600">
              <a:lnSpc>
                <a:spcPct val="112000"/>
              </a:lnSpc>
            </a:pPr>
            <a:r>
              <a:rPr lang="en-US" sz="3000" kern="0" noProof="1">
                <a:solidFill>
                  <a:sysClr val="windowText" lastClr="000000"/>
                </a:solidFill>
                <a:latin typeface="Times New Roman" panose="02020603050405020304"/>
                <a:ea typeface="Arial" panose="020B0604020202020204" pitchFamily="34" charset="0"/>
                <a:cs typeface="Times New Roman" panose="02020603050405020304"/>
              </a:rPr>
              <a:t>EW</a:t>
            </a:r>
            <a:r>
              <a:rPr sz="3000" kern="0" noProof="1">
                <a:solidFill>
                  <a:sysClr val="windowText" lastClr="000000"/>
                </a:solidFill>
                <a:latin typeface="Times New Roman" panose="02020603050405020304"/>
                <a:ea typeface="Arial" panose="020B0604020202020204" pitchFamily="34" charset="0"/>
                <a:cs typeface="Times New Roman" panose="02020603050405020304"/>
              </a:rPr>
              <a:t>IT, </a:t>
            </a:r>
            <a:r>
              <a:rPr sz="3000" kern="0" spc="-15" dirty="0">
                <a:solidFill>
                  <a:sysClr val="windowText" lastClr="000000"/>
                </a:solidFill>
                <a:latin typeface="Times New Roman" panose="02020603050405020304"/>
                <a:cs typeface="Times New Roman" panose="02020603050405020304"/>
              </a:rPr>
              <a:t>Bengaluru</a:t>
            </a:r>
            <a:endParaRPr sz="3000" kern="0" dirty="0">
              <a:solidFill>
                <a:sysClr val="windowText" lastClr="000000"/>
              </a:solidFill>
              <a:latin typeface="Times New Roman" panose="02020603050405020304"/>
              <a:cs typeface="Times New Roman" panose="02020603050405020304"/>
            </a:endParaRPr>
          </a:p>
        </p:txBody>
      </p:sp>
      <p:sp>
        <p:nvSpPr>
          <p:cNvPr id="5" name="object 5"/>
          <p:cNvSpPr txBox="1"/>
          <p:nvPr/>
        </p:nvSpPr>
        <p:spPr>
          <a:xfrm>
            <a:off x="1121568" y="6722555"/>
            <a:ext cx="6993732" cy="2586606"/>
          </a:xfrm>
          <a:prstGeom prst="rect">
            <a:avLst/>
          </a:prstGeom>
        </p:spPr>
        <p:txBody>
          <a:bodyPr vert="horz" wrap="square" lIns="0" tIns="72390" rIns="0" bIns="0" rtlCol="0">
            <a:spAutoFit/>
          </a:bodyPr>
          <a:lstStyle/>
          <a:p>
            <a:pPr marL="19050" defTabSz="1371600">
              <a:spcBef>
                <a:spcPts val="570"/>
              </a:spcBef>
            </a:pPr>
            <a:r>
              <a:rPr sz="3000" b="1" kern="0" spc="-30" dirty="0">
                <a:solidFill>
                  <a:sysClr val="windowText" lastClr="000000"/>
                </a:solidFill>
                <a:latin typeface="Times New Roman" panose="02020603050405020304"/>
                <a:cs typeface="Times New Roman" panose="02020603050405020304"/>
              </a:rPr>
              <a:t>PROJECT</a:t>
            </a:r>
            <a:r>
              <a:rPr sz="3000" b="1" kern="0" spc="-90" dirty="0">
                <a:solidFill>
                  <a:sysClr val="windowText" lastClr="000000"/>
                </a:solidFill>
                <a:latin typeface="Times New Roman" panose="02020603050405020304"/>
                <a:cs typeface="Times New Roman" panose="02020603050405020304"/>
              </a:rPr>
              <a:t> </a:t>
            </a:r>
            <a:r>
              <a:rPr sz="3000" b="1" kern="0" spc="-30" dirty="0">
                <a:solidFill>
                  <a:sysClr val="windowText" lastClr="000000"/>
                </a:solidFill>
                <a:latin typeface="Times New Roman" panose="02020603050405020304"/>
                <a:cs typeface="Times New Roman" panose="02020603050405020304"/>
              </a:rPr>
              <a:t>TEAM:</a:t>
            </a:r>
            <a:endParaRPr sz="3000" kern="0" dirty="0">
              <a:solidFill>
                <a:sysClr val="windowText" lastClr="000000"/>
              </a:solidFill>
              <a:latin typeface="Times New Roman" panose="02020603050405020304"/>
              <a:cs typeface="Times New Roman" panose="02020603050405020304"/>
            </a:endParaRPr>
          </a:p>
          <a:p>
            <a:pPr marL="495300" indent="-381000" defTabSz="1371600">
              <a:spcBef>
                <a:spcPts val="420"/>
              </a:spcBef>
              <a:buFontTx/>
              <a:buAutoNum type="arabicPeriod"/>
              <a:tabLst>
                <a:tab pos="495300" algn="l"/>
              </a:tabLst>
            </a:pPr>
            <a:r>
              <a:rPr lang="en-US" sz="3000" kern="0" spc="-30" dirty="0">
                <a:solidFill>
                  <a:sysClr val="windowText" lastClr="000000"/>
                </a:solidFill>
                <a:latin typeface="Times New Roman" panose="02020603050405020304"/>
                <a:cs typeface="Times New Roman" panose="02020603050405020304"/>
              </a:rPr>
              <a:t>Yeshrutha S</a:t>
            </a:r>
            <a:r>
              <a:rPr lang="en-US" sz="3000" kern="0" spc="-15" dirty="0">
                <a:solidFill>
                  <a:sysClr val="windowText" lastClr="000000"/>
                </a:solidFill>
                <a:latin typeface="Times New Roman" panose="02020603050405020304"/>
                <a:cs typeface="Times New Roman" panose="02020603050405020304"/>
              </a:rPr>
              <a:t>  - 1EW23CI063</a:t>
            </a:r>
            <a:endParaRPr sz="3000" kern="0" dirty="0">
              <a:solidFill>
                <a:sysClr val="windowText" lastClr="000000"/>
              </a:solidFill>
              <a:latin typeface="Times New Roman" panose="02020603050405020304"/>
              <a:cs typeface="Times New Roman" panose="02020603050405020304"/>
            </a:endParaRPr>
          </a:p>
          <a:p>
            <a:pPr marL="495300" indent="-381000" defTabSz="1371600">
              <a:spcBef>
                <a:spcPts val="420"/>
              </a:spcBef>
              <a:buFontTx/>
              <a:buAutoNum type="arabicPeriod"/>
              <a:tabLst>
                <a:tab pos="495300" algn="l"/>
              </a:tabLst>
            </a:pPr>
            <a:r>
              <a:rPr lang="en-US" sz="3000" kern="0" spc="-30" dirty="0">
                <a:solidFill>
                  <a:sysClr val="windowText" lastClr="000000"/>
                </a:solidFill>
                <a:latin typeface="Times New Roman" panose="02020603050405020304"/>
                <a:cs typeface="Times New Roman" panose="02020603050405020304"/>
              </a:rPr>
              <a:t>Abhay Vadagi</a:t>
            </a:r>
            <a:r>
              <a:rPr sz="3000" kern="0" spc="-30" dirty="0">
                <a:solidFill>
                  <a:sysClr val="windowText" lastClr="000000"/>
                </a:solidFill>
                <a:latin typeface="Times New Roman" panose="02020603050405020304"/>
                <a:cs typeface="Times New Roman" panose="02020603050405020304"/>
              </a:rPr>
              <a:t> </a:t>
            </a:r>
            <a:r>
              <a:rPr lang="en-US" sz="3000" kern="0" spc="-15" dirty="0">
                <a:solidFill>
                  <a:sysClr val="windowText" lastClr="000000"/>
                </a:solidFill>
                <a:latin typeface="Times New Roman" panose="02020603050405020304"/>
                <a:cs typeface="Times New Roman" panose="02020603050405020304"/>
              </a:rPr>
              <a:t> - 1EW23CI002</a:t>
            </a:r>
            <a:endParaRPr sz="3000" kern="0" dirty="0">
              <a:solidFill>
                <a:sysClr val="windowText" lastClr="000000"/>
              </a:solidFill>
              <a:latin typeface="Times New Roman" panose="02020603050405020304"/>
              <a:cs typeface="Times New Roman" panose="02020603050405020304"/>
            </a:endParaRPr>
          </a:p>
          <a:p>
            <a:pPr marL="495300" indent="-381000" defTabSz="1371600">
              <a:spcBef>
                <a:spcPts val="420"/>
              </a:spcBef>
              <a:buFontTx/>
              <a:buAutoNum type="arabicPeriod"/>
              <a:tabLst>
                <a:tab pos="495300" algn="l"/>
              </a:tabLst>
            </a:pPr>
            <a:r>
              <a:rPr lang="en-US" sz="3000" kern="0" spc="-30" dirty="0">
                <a:solidFill>
                  <a:sysClr val="windowText" lastClr="000000"/>
                </a:solidFill>
                <a:latin typeface="Times New Roman" panose="02020603050405020304"/>
                <a:cs typeface="Times New Roman" panose="02020603050405020304"/>
              </a:rPr>
              <a:t>Saicharan G</a:t>
            </a:r>
            <a:r>
              <a:rPr sz="3000" kern="0" spc="-30" dirty="0">
                <a:solidFill>
                  <a:sysClr val="windowText" lastClr="000000"/>
                </a:solidFill>
                <a:latin typeface="Times New Roman" panose="02020603050405020304"/>
                <a:cs typeface="Times New Roman" panose="02020603050405020304"/>
              </a:rPr>
              <a:t> </a:t>
            </a:r>
            <a:r>
              <a:rPr lang="en-US" sz="3000" kern="0" spc="-15" dirty="0">
                <a:solidFill>
                  <a:sysClr val="windowText" lastClr="000000"/>
                </a:solidFill>
                <a:latin typeface="Times New Roman" panose="02020603050405020304"/>
                <a:cs typeface="Times New Roman" panose="02020603050405020304"/>
              </a:rPr>
              <a:t> - 1EW23CI043</a:t>
            </a:r>
            <a:endParaRPr sz="3000" kern="0" dirty="0">
              <a:solidFill>
                <a:sysClr val="windowText" lastClr="000000"/>
              </a:solidFill>
              <a:latin typeface="Times New Roman" panose="02020603050405020304"/>
              <a:cs typeface="Times New Roman" panose="02020603050405020304"/>
            </a:endParaRPr>
          </a:p>
          <a:p>
            <a:pPr marL="495300" indent="-381000" defTabSz="1371600">
              <a:spcBef>
                <a:spcPts val="420"/>
              </a:spcBef>
              <a:buFontTx/>
              <a:buAutoNum type="arabicPeriod"/>
              <a:tabLst>
                <a:tab pos="495300" algn="l"/>
              </a:tabLst>
            </a:pPr>
            <a:r>
              <a:rPr lang="en-US" sz="3000" kern="0" spc="-30" dirty="0">
                <a:solidFill>
                  <a:sysClr val="windowText" lastClr="000000"/>
                </a:solidFill>
                <a:latin typeface="Times New Roman" panose="02020603050405020304"/>
                <a:cs typeface="Times New Roman" panose="02020603050405020304"/>
              </a:rPr>
              <a:t>Venkat Sai Kowshik</a:t>
            </a:r>
            <a:r>
              <a:rPr lang="en-US" sz="3000" kern="0" spc="-15" dirty="0">
                <a:solidFill>
                  <a:sysClr val="windowText" lastClr="000000"/>
                </a:solidFill>
                <a:latin typeface="Times New Roman" panose="02020603050405020304"/>
                <a:cs typeface="Times New Roman" panose="02020603050405020304"/>
              </a:rPr>
              <a:t> - 1EW23CI041</a:t>
            </a:r>
            <a:endParaRPr sz="3000" kern="0" dirty="0">
              <a:solidFill>
                <a:sysClr val="windowText" lastClr="000000"/>
              </a:solidFill>
              <a:latin typeface="Times New Roman" panose="02020603050405020304"/>
              <a:cs typeface="Times New Roman" panose="02020603050405020304"/>
            </a:endParaRPr>
          </a:p>
        </p:txBody>
      </p:sp>
      <p:sp>
        <p:nvSpPr>
          <p:cNvPr id="8" name="Title 1">
            <a:extLst>
              <a:ext uri="{FF2B5EF4-FFF2-40B4-BE49-F238E27FC236}">
                <a16:creationId xmlns:a16="http://schemas.microsoft.com/office/drawing/2014/main" id="{5A1B1502-B778-0218-80A3-FB43BF34404F}"/>
              </a:ext>
            </a:extLst>
          </p:cNvPr>
          <p:cNvSpPr txBox="1">
            <a:spLocks/>
          </p:cNvSpPr>
          <p:nvPr/>
        </p:nvSpPr>
        <p:spPr>
          <a:xfrm>
            <a:off x="3759516" y="801775"/>
            <a:ext cx="10768965" cy="1661993"/>
          </a:xfrm>
          <a:prstGeom prst="rect">
            <a:avLst/>
          </a:prstGeom>
        </p:spPr>
        <p:txBody>
          <a:bodyPr wrap="square" lIns="0" tIns="0" rIns="0" bIns="0">
            <a:spAutoFit/>
          </a:bodyPr>
          <a:lstStyle>
            <a:lvl1pPr>
              <a:defRPr sz="4400" b="1" i="0">
                <a:solidFill>
                  <a:schemeClr val="tx2"/>
                </a:solidFill>
                <a:latin typeface="Times New Roman" panose="02020603050405020304"/>
                <a:ea typeface="+mj-ea"/>
                <a:cs typeface="Times New Roman" panose="02020603050405020304"/>
              </a:defRPr>
            </a:lvl1pPr>
          </a:lstStyle>
          <a:p>
            <a:pPr algn="ctr" defTabSz="1371600"/>
            <a:r>
              <a:rPr lang="en-US" sz="3600" kern="0" dirty="0">
                <a:solidFill>
                  <a:srgbClr val="1F497D">
                    <a:lumMod val="75000"/>
                  </a:srgbClr>
                </a:solidFill>
              </a:rPr>
              <a:t>EAST WEST INSTITUTE OF TECHNOLOGY</a:t>
            </a:r>
            <a:br>
              <a:rPr lang="en-US" sz="3600" kern="0" dirty="0">
                <a:solidFill>
                  <a:srgbClr val="1F497D">
                    <a:lumMod val="75000"/>
                  </a:srgbClr>
                </a:solidFill>
              </a:rPr>
            </a:br>
            <a:r>
              <a:rPr lang="en-US" sz="3600" kern="0" dirty="0">
                <a:solidFill>
                  <a:srgbClr val="1F497D">
                    <a:lumMod val="75000"/>
                  </a:srgbClr>
                </a:solidFill>
              </a:rPr>
              <a:t>DEPARTMENT OF CSE(AI&amp;ML)</a:t>
            </a:r>
            <a:br>
              <a:rPr lang="en-US" sz="3600" kern="0" dirty="0">
                <a:solidFill>
                  <a:srgbClr val="1F497D">
                    <a:lumMod val="75000"/>
                  </a:srgbClr>
                </a:solidFill>
              </a:rPr>
            </a:br>
            <a:endParaRPr lang="en-US" sz="3600" kern="0" dirty="0">
              <a:solidFill>
                <a:srgbClr val="1F497D">
                  <a:lumMod val="75000"/>
                </a:srgbClr>
              </a:solidFill>
            </a:endParaRPr>
          </a:p>
        </p:txBody>
      </p:sp>
      <p:pic>
        <p:nvPicPr>
          <p:cNvPr id="9" name="Picture 0" descr="eastwest-logo.png">
            <a:extLst>
              <a:ext uri="{FF2B5EF4-FFF2-40B4-BE49-F238E27FC236}">
                <a16:creationId xmlns:a16="http://schemas.microsoft.com/office/drawing/2014/main" id="{D45B9995-4497-E04F-6068-FD9807BC139D}"/>
              </a:ext>
            </a:extLst>
          </p:cNvPr>
          <p:cNvPicPr>
            <a:picLocks noChangeAspect="1"/>
          </p:cNvPicPr>
          <p:nvPr/>
        </p:nvPicPr>
        <p:blipFill>
          <a:blip r:embed="rId2" cstate="print">
            <a:lum/>
            <a:extLst>
              <a:ext uri="{28A0092B-C50C-407E-A947-70E740481C1C}">
                <a14:useLocalDpi xmlns:a14="http://schemas.microsoft.com/office/drawing/2010/main" val="0"/>
              </a:ext>
            </a:extLst>
          </a:blip>
          <a:stretch>
            <a:fillRect/>
          </a:stretch>
        </p:blipFill>
        <p:spPr>
          <a:xfrm>
            <a:off x="1421739" y="743775"/>
            <a:ext cx="1435761" cy="1525359"/>
          </a:xfrm>
          <a:prstGeom prst="rect">
            <a:avLst/>
          </a:prstGeom>
        </p:spPr>
      </p:pic>
      <p:pic>
        <p:nvPicPr>
          <p:cNvPr id="10" name="Picture 9">
            <a:extLst>
              <a:ext uri="{FF2B5EF4-FFF2-40B4-BE49-F238E27FC236}">
                <a16:creationId xmlns:a16="http://schemas.microsoft.com/office/drawing/2014/main" id="{1D2191EE-B221-BC59-EAB2-C35DFE54AD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78961" y="302155"/>
            <a:ext cx="1944218" cy="196168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62800" y="779649"/>
            <a:ext cx="4724400" cy="942566"/>
          </a:xfrm>
          <a:prstGeom prst="rect">
            <a:avLst/>
          </a:prstGeom>
        </p:spPr>
        <p:txBody>
          <a:bodyPr vert="horz" wrap="square" lIns="0" tIns="19050" rIns="0" bIns="0" rtlCol="0">
            <a:spAutoFit/>
          </a:bodyPr>
          <a:lstStyle/>
          <a:p>
            <a:pPr marL="19050">
              <a:spcBef>
                <a:spcPts val="150"/>
              </a:spcBef>
            </a:pPr>
            <a:r>
              <a:rPr sz="6000" spc="-15" dirty="0">
                <a:solidFill>
                  <a:schemeClr val="tx2">
                    <a:lumMod val="75000"/>
                  </a:schemeClr>
                </a:solidFill>
                <a:latin typeface="Cinzel Bold" panose="020B0604020202020204" charset="0"/>
              </a:rPr>
              <a:t>C</a:t>
            </a:r>
            <a:r>
              <a:rPr lang="en-IN" sz="6000" spc="-15" dirty="0">
                <a:solidFill>
                  <a:schemeClr val="tx2">
                    <a:lumMod val="75000"/>
                  </a:schemeClr>
                </a:solidFill>
                <a:latin typeface="Cinzel Bold" panose="020B0604020202020204" charset="0"/>
              </a:rPr>
              <a:t>ONTENTS</a:t>
            </a:r>
            <a:endParaRPr sz="6000" dirty="0">
              <a:solidFill>
                <a:schemeClr val="tx2">
                  <a:lumMod val="75000"/>
                </a:schemeClr>
              </a:solidFill>
              <a:latin typeface="Cinzel Bold" panose="020B0604020202020204" charset="0"/>
            </a:endParaRPr>
          </a:p>
        </p:txBody>
      </p:sp>
      <p:sp>
        <p:nvSpPr>
          <p:cNvPr id="3" name="object 3"/>
          <p:cNvSpPr txBox="1"/>
          <p:nvPr/>
        </p:nvSpPr>
        <p:spPr>
          <a:xfrm>
            <a:off x="1066800" y="2476500"/>
            <a:ext cx="5799773" cy="3225242"/>
          </a:xfrm>
          <a:prstGeom prst="rect">
            <a:avLst/>
          </a:prstGeom>
        </p:spPr>
        <p:txBody>
          <a:bodyPr vert="horz" wrap="square" lIns="0" tIns="19050" rIns="0" bIns="0" rtlCol="0">
            <a:spAutoFit/>
          </a:bodyPr>
          <a:lstStyle/>
          <a:p>
            <a:pPr marL="706755" indent="-514350" defTabSz="1371600">
              <a:spcBef>
                <a:spcPts val="2220"/>
              </a:spcBef>
              <a:buFont typeface="+mj-lt"/>
              <a:buAutoNum type="arabicPeriod"/>
              <a:tabLst>
                <a:tab pos="795338" algn="l"/>
              </a:tabLst>
            </a:pPr>
            <a:r>
              <a:rPr sz="2700" kern="0" spc="-15" dirty="0">
                <a:solidFill>
                  <a:sysClr val="windowText" lastClr="000000"/>
                </a:solidFill>
                <a:latin typeface="Times New Roman" panose="02020603050405020304"/>
                <a:cs typeface="Times New Roman" panose="02020603050405020304"/>
              </a:rPr>
              <a:t>Introduction</a:t>
            </a:r>
            <a:endParaRPr sz="2700" kern="0" dirty="0">
              <a:solidFill>
                <a:sysClr val="windowText" lastClr="000000"/>
              </a:solidFill>
              <a:latin typeface="Times New Roman" panose="02020603050405020304"/>
              <a:cs typeface="Times New Roman" panose="02020603050405020304"/>
            </a:endParaRPr>
          </a:p>
          <a:p>
            <a:pPr marL="706755" indent="-514350" defTabSz="1371600">
              <a:spcBef>
                <a:spcPts val="2228"/>
              </a:spcBef>
              <a:buFont typeface="+mj-lt"/>
              <a:buAutoNum type="arabicPeriod"/>
              <a:tabLst>
                <a:tab pos="795338" algn="l"/>
              </a:tabLst>
            </a:pPr>
            <a:r>
              <a:rPr lang="en-US" sz="2700" kern="0" dirty="0">
                <a:solidFill>
                  <a:sysClr val="windowText" lastClr="000000"/>
                </a:solidFill>
                <a:latin typeface="Times New Roman" panose="02020603050405020304"/>
                <a:cs typeface="Times New Roman" panose="02020603050405020304"/>
              </a:rPr>
              <a:t>Literature review</a:t>
            </a:r>
            <a:endParaRPr sz="2700" kern="0" dirty="0">
              <a:solidFill>
                <a:sysClr val="windowText" lastClr="000000"/>
              </a:solidFill>
              <a:latin typeface="Times New Roman" panose="02020603050405020304"/>
              <a:cs typeface="Times New Roman" panose="02020603050405020304"/>
            </a:endParaRPr>
          </a:p>
          <a:p>
            <a:pPr marL="706755" indent="-514350" defTabSz="1371600">
              <a:spcBef>
                <a:spcPts val="2228"/>
              </a:spcBef>
              <a:buFont typeface="+mj-lt"/>
              <a:buAutoNum type="arabicPeriod"/>
              <a:tabLst>
                <a:tab pos="795338" algn="l"/>
              </a:tabLst>
            </a:pPr>
            <a:r>
              <a:rPr lang="en-US" sz="2700" kern="0" spc="-15" dirty="0">
                <a:solidFill>
                  <a:sysClr val="windowText" lastClr="000000"/>
                </a:solidFill>
                <a:latin typeface="Times New Roman" panose="02020603050405020304"/>
                <a:cs typeface="Times New Roman" panose="02020603050405020304"/>
              </a:rPr>
              <a:t>Problem Statement</a:t>
            </a:r>
            <a:endParaRPr sz="2700" kern="0" dirty="0">
              <a:solidFill>
                <a:sysClr val="windowText" lastClr="000000"/>
              </a:solidFill>
              <a:latin typeface="Times New Roman" panose="02020603050405020304"/>
              <a:cs typeface="Times New Roman" panose="02020603050405020304"/>
            </a:endParaRPr>
          </a:p>
          <a:p>
            <a:pPr marL="706755" indent="-514350" defTabSz="1371600">
              <a:spcBef>
                <a:spcPts val="2228"/>
              </a:spcBef>
              <a:buFont typeface="+mj-lt"/>
              <a:buAutoNum type="arabicPeriod"/>
              <a:tabLst>
                <a:tab pos="795338" algn="l"/>
              </a:tabLst>
            </a:pPr>
            <a:r>
              <a:rPr lang="en-US" sz="2700" kern="0" spc="-30" dirty="0">
                <a:solidFill>
                  <a:sysClr val="windowText" lastClr="000000"/>
                </a:solidFill>
                <a:latin typeface="Times New Roman" panose="02020603050405020304"/>
                <a:cs typeface="Times New Roman" panose="02020603050405020304"/>
              </a:rPr>
              <a:t>System Architecture</a:t>
            </a:r>
            <a:endParaRPr lang="en-US" sz="2700" kern="0" spc="-15" dirty="0">
              <a:solidFill>
                <a:sysClr val="windowText" lastClr="000000"/>
              </a:solidFill>
              <a:latin typeface="Times New Roman" panose="02020603050405020304"/>
              <a:cs typeface="Times New Roman" panose="02020603050405020304"/>
            </a:endParaRPr>
          </a:p>
          <a:p>
            <a:pPr marL="706755" indent="-514350" defTabSz="1371600">
              <a:spcBef>
                <a:spcPts val="2228"/>
              </a:spcBef>
              <a:buFont typeface="+mj-lt"/>
              <a:buAutoNum type="arabicPeriod"/>
              <a:tabLst>
                <a:tab pos="795338" algn="l"/>
              </a:tabLst>
            </a:pPr>
            <a:r>
              <a:rPr lang="en-US" sz="2700" kern="0" spc="-15" dirty="0">
                <a:solidFill>
                  <a:sysClr val="windowText" lastClr="000000"/>
                </a:solidFill>
                <a:latin typeface="Times New Roman" panose="02020603050405020304"/>
                <a:cs typeface="Times New Roman" panose="02020603050405020304"/>
              </a:rPr>
              <a:t>Conclusion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81675" y="23316"/>
            <a:ext cx="6724650" cy="1865895"/>
          </a:xfrm>
          <a:prstGeom prst="rect">
            <a:avLst/>
          </a:prstGeom>
        </p:spPr>
        <p:txBody>
          <a:bodyPr vert="horz" wrap="square" lIns="0" tIns="19050" rIns="0" bIns="0" rtlCol="0">
            <a:spAutoFit/>
          </a:bodyPr>
          <a:lstStyle/>
          <a:p>
            <a:pPr marL="19050" algn="ctr">
              <a:spcBef>
                <a:spcPts val="150"/>
              </a:spcBef>
            </a:pPr>
            <a:br>
              <a:rPr lang="en-US" sz="6000" spc="-15" dirty="0">
                <a:solidFill>
                  <a:schemeClr val="tx2">
                    <a:lumMod val="50000"/>
                  </a:schemeClr>
                </a:solidFill>
              </a:rPr>
            </a:br>
            <a:r>
              <a:rPr sz="6000" spc="-15" dirty="0">
                <a:solidFill>
                  <a:schemeClr val="tx2">
                    <a:lumMod val="75000"/>
                  </a:schemeClr>
                </a:solidFill>
                <a:latin typeface="Cinzel Bold" panose="020B0604020202020204" charset="0"/>
              </a:rPr>
              <a:t>INTRODUCTION</a:t>
            </a:r>
            <a:endParaRPr sz="6000" dirty="0">
              <a:solidFill>
                <a:schemeClr val="tx2">
                  <a:lumMod val="75000"/>
                </a:schemeClr>
              </a:solidFill>
              <a:latin typeface="Cinzel Bold" panose="020B0604020202020204" charset="0"/>
            </a:endParaRPr>
          </a:p>
        </p:txBody>
      </p:sp>
      <p:pic>
        <p:nvPicPr>
          <p:cNvPr id="8" name="Picture 7">
            <a:extLst>
              <a:ext uri="{FF2B5EF4-FFF2-40B4-BE49-F238E27FC236}">
                <a16:creationId xmlns:a16="http://schemas.microsoft.com/office/drawing/2014/main" id="{12DD44C2-2CDA-B2FE-902D-E06ED5657E02}"/>
              </a:ext>
            </a:extLst>
          </p:cNvPr>
          <p:cNvPicPr>
            <a:picLocks noChangeAspect="1"/>
          </p:cNvPicPr>
          <p:nvPr/>
        </p:nvPicPr>
        <p:blipFill>
          <a:blip r:embed="rId3"/>
          <a:stretch>
            <a:fillRect/>
          </a:stretch>
        </p:blipFill>
        <p:spPr>
          <a:xfrm>
            <a:off x="10169096" y="2171700"/>
            <a:ext cx="7234002" cy="6400800"/>
          </a:xfrm>
          <a:prstGeom prst="rect">
            <a:avLst/>
          </a:prstGeom>
        </p:spPr>
      </p:pic>
      <p:pic>
        <p:nvPicPr>
          <p:cNvPr id="11" name="Picture 10">
            <a:extLst>
              <a:ext uri="{FF2B5EF4-FFF2-40B4-BE49-F238E27FC236}">
                <a16:creationId xmlns:a16="http://schemas.microsoft.com/office/drawing/2014/main" id="{59875A3E-D6DD-068B-5739-9FF9A7572232}"/>
              </a:ext>
            </a:extLst>
          </p:cNvPr>
          <p:cNvPicPr>
            <a:picLocks noChangeAspect="1"/>
          </p:cNvPicPr>
          <p:nvPr/>
        </p:nvPicPr>
        <p:blipFill>
          <a:blip r:embed="rId4"/>
          <a:stretch>
            <a:fillRect/>
          </a:stretch>
        </p:blipFill>
        <p:spPr>
          <a:xfrm>
            <a:off x="12115801" y="8686801"/>
            <a:ext cx="3543299" cy="1282919"/>
          </a:xfrm>
          <a:prstGeom prst="rect">
            <a:avLst/>
          </a:prstGeom>
        </p:spPr>
      </p:pic>
      <p:sp>
        <p:nvSpPr>
          <p:cNvPr id="12" name="Rectangle 1">
            <a:extLst>
              <a:ext uri="{FF2B5EF4-FFF2-40B4-BE49-F238E27FC236}">
                <a16:creationId xmlns:a16="http://schemas.microsoft.com/office/drawing/2014/main" id="{846D7A55-6ADB-FAA2-42DD-76CC51AD988E}"/>
              </a:ext>
            </a:extLst>
          </p:cNvPr>
          <p:cNvSpPr>
            <a:spLocks noChangeArrowheads="1"/>
          </p:cNvSpPr>
          <p:nvPr/>
        </p:nvSpPr>
        <p:spPr bwMode="auto">
          <a:xfrm>
            <a:off x="0" y="-484747"/>
            <a:ext cx="373179"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37160" tIns="68580" rIns="137160" bIns="68580" numCol="1" anchor="ctr" anchorCtr="0" compatLnSpc="1">
            <a:prstTxWarp prst="textNoShape">
              <a:avLst/>
            </a:prstTxWarp>
            <a:spAutoFit/>
          </a:bodyPr>
          <a:lstStyle/>
          <a:p>
            <a:pPr defTabSz="1371600" eaLnBrk="0" fontAlgn="base" hangingPunct="0">
              <a:spcBef>
                <a:spcPct val="0"/>
              </a:spcBef>
              <a:spcAft>
                <a:spcPct val="0"/>
              </a:spcAft>
            </a:pPr>
            <a:endParaRPr lang="en-US" altLang="en-US" sz="2700" dirty="0">
              <a:latin typeface="Arial" panose="020B0604020202020204" pitchFamily="34" charset="0"/>
            </a:endParaRPr>
          </a:p>
          <a:p>
            <a:pPr defTabSz="1371600" eaLnBrk="0" fontAlgn="base" hangingPunct="0">
              <a:spcBef>
                <a:spcPct val="0"/>
              </a:spcBef>
              <a:spcAft>
                <a:spcPct val="0"/>
              </a:spcAft>
            </a:pPr>
            <a:r>
              <a:rPr lang="en-US" altLang="en-US" sz="2700" dirty="0">
                <a:latin typeface="Arial" panose="020B0604020202020204" pitchFamily="34" charset="0"/>
              </a:rPr>
              <a:t> </a:t>
            </a:r>
          </a:p>
        </p:txBody>
      </p:sp>
      <p:sp>
        <p:nvSpPr>
          <p:cNvPr id="14" name="Content Placeholder 13">
            <a:extLst>
              <a:ext uri="{FF2B5EF4-FFF2-40B4-BE49-F238E27FC236}">
                <a16:creationId xmlns:a16="http://schemas.microsoft.com/office/drawing/2014/main" id="{9D9BD470-4F86-F095-9DB2-0F995933C9D4}"/>
              </a:ext>
            </a:extLst>
          </p:cNvPr>
          <p:cNvSpPr>
            <a:spLocks noGrp="1"/>
          </p:cNvSpPr>
          <p:nvPr>
            <p:ph sz="half" idx="2"/>
          </p:nvPr>
        </p:nvSpPr>
        <p:spPr>
          <a:xfrm>
            <a:off x="1371600" y="2857500"/>
            <a:ext cx="7955280" cy="5534144"/>
          </a:xfrm>
        </p:spPr>
        <p:txBody>
          <a:bodyPr/>
          <a:lstStyle/>
          <a:p>
            <a:pPr marL="428625" indent="-428625" algn="l" rtl="0" eaLnBrk="0" fontAlgn="base" hangingPunct="0">
              <a:lnSpc>
                <a:spcPct val="150000"/>
              </a:lnSpc>
              <a:spcBef>
                <a:spcPct val="0"/>
              </a:spcBef>
              <a:spcAft>
                <a:spcPct val="0"/>
              </a:spcAft>
              <a:buFont typeface="Wingdings" panose="05000000000000000000" pitchFamily="2" charset="2"/>
              <a:buChar char="Ø"/>
            </a:pPr>
            <a:r>
              <a:rPr lang="en-US" altLang="en-US" sz="2700" dirty="0">
                <a:latin typeface="Arial" panose="020B0604020202020204" pitchFamily="34" charset="0"/>
              </a:rPr>
              <a:t>G-Care is an </a:t>
            </a:r>
            <a:r>
              <a:rPr lang="en-US" altLang="en-US" sz="2700" b="1" dirty="0">
                <a:latin typeface="Arial" panose="020B0604020202020204" pitchFamily="34" charset="0"/>
              </a:rPr>
              <a:t>AI-powered elderly care system</a:t>
            </a:r>
            <a:r>
              <a:rPr lang="en-US" altLang="en-US" sz="2700" dirty="0">
                <a:latin typeface="Arial" panose="020B0604020202020204" pitchFamily="34" charset="0"/>
              </a:rPr>
              <a:t> designed to improve safety and independence </a:t>
            </a:r>
          </a:p>
          <a:p>
            <a:pPr marL="428625" indent="-428625" algn="l" rtl="0" eaLnBrk="0" fontAlgn="base" hangingPunct="0">
              <a:lnSpc>
                <a:spcPct val="150000"/>
              </a:lnSpc>
              <a:spcBef>
                <a:spcPct val="0"/>
              </a:spcBef>
              <a:spcAft>
                <a:spcPct val="0"/>
              </a:spcAft>
              <a:buFont typeface="Wingdings" panose="05000000000000000000" pitchFamily="2" charset="2"/>
              <a:buChar char="Ø"/>
            </a:pPr>
            <a:r>
              <a:rPr lang="en-US" altLang="en-US" sz="2700" dirty="0">
                <a:latin typeface="Arial" panose="020B0604020202020204" pitchFamily="34" charset="0"/>
              </a:rPr>
              <a:t>It provides </a:t>
            </a:r>
            <a:r>
              <a:rPr lang="en-US" altLang="en-US" sz="2700" b="1" dirty="0">
                <a:latin typeface="Arial" panose="020B0604020202020204" pitchFamily="34" charset="0"/>
              </a:rPr>
              <a:t>real-time health monitoring and smart reminders</a:t>
            </a:r>
            <a:r>
              <a:rPr lang="en-US" altLang="en-US" sz="2700" dirty="0">
                <a:latin typeface="Arial" panose="020B0604020202020204" pitchFamily="34" charset="0"/>
              </a:rPr>
              <a:t> </a:t>
            </a:r>
          </a:p>
          <a:p>
            <a:pPr marL="428625" indent="-428625" algn="l" rtl="0" eaLnBrk="0" fontAlgn="base" hangingPunct="0">
              <a:lnSpc>
                <a:spcPct val="150000"/>
              </a:lnSpc>
              <a:spcBef>
                <a:spcPct val="0"/>
              </a:spcBef>
              <a:spcAft>
                <a:spcPct val="0"/>
              </a:spcAft>
              <a:buFont typeface="Wingdings" panose="05000000000000000000" pitchFamily="2" charset="2"/>
              <a:buChar char="Ø"/>
            </a:pPr>
            <a:r>
              <a:rPr lang="en-US" altLang="en-US" sz="2700" dirty="0">
                <a:latin typeface="Arial" panose="020B0604020202020204" pitchFamily="34" charset="0"/>
              </a:rPr>
              <a:t>Helps elderly individuals manage daily activities easily </a:t>
            </a:r>
          </a:p>
          <a:p>
            <a:pPr marL="428625" indent="-428625" algn="l" rtl="0" eaLnBrk="0" fontAlgn="base" hangingPunct="0">
              <a:lnSpc>
                <a:spcPct val="150000"/>
              </a:lnSpc>
              <a:spcBef>
                <a:spcPct val="0"/>
              </a:spcBef>
              <a:spcAft>
                <a:spcPct val="0"/>
              </a:spcAft>
              <a:buFont typeface="Wingdings" panose="05000000000000000000" pitchFamily="2" charset="2"/>
              <a:buChar char="Ø"/>
            </a:pPr>
            <a:r>
              <a:rPr lang="en-US" altLang="en-US" sz="2700" dirty="0">
                <a:latin typeface="Arial" panose="020B0604020202020204" pitchFamily="34" charset="0"/>
              </a:rPr>
              <a:t>Uses </a:t>
            </a:r>
            <a:r>
              <a:rPr lang="en-US" altLang="en-US" sz="2700" b="1" dirty="0">
                <a:latin typeface="Arial" panose="020B0604020202020204" pitchFamily="34" charset="0"/>
              </a:rPr>
              <a:t>wearable technology + voice interaction</a:t>
            </a:r>
            <a:r>
              <a:rPr lang="en-US" altLang="en-US" sz="2700" dirty="0">
                <a:latin typeface="Arial" panose="020B0604020202020204" pitchFamily="34" charset="0"/>
              </a:rPr>
              <a:t> </a:t>
            </a:r>
          </a:p>
          <a:p>
            <a:pPr marL="428625" indent="-428625" algn="l" rtl="0" eaLnBrk="0" fontAlgn="base" hangingPunct="0">
              <a:lnSpc>
                <a:spcPct val="150000"/>
              </a:lnSpc>
              <a:spcBef>
                <a:spcPct val="0"/>
              </a:spcBef>
              <a:spcAft>
                <a:spcPct val="0"/>
              </a:spcAft>
              <a:buFont typeface="Wingdings" panose="05000000000000000000" pitchFamily="2" charset="2"/>
              <a:buChar char="Ø"/>
            </a:pPr>
            <a:r>
              <a:rPr lang="en-US" altLang="en-US" sz="2700" dirty="0">
                <a:latin typeface="Arial" panose="020B0604020202020204" pitchFamily="34" charset="0"/>
              </a:rPr>
              <a:t>Connects users with guardians for continuous support</a:t>
            </a:r>
            <a:endParaRPr lang="en-IN"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029200" y="457201"/>
            <a:ext cx="8458200" cy="942566"/>
          </a:xfrm>
          <a:prstGeom prst="rect">
            <a:avLst/>
          </a:prstGeom>
        </p:spPr>
        <p:txBody>
          <a:bodyPr vert="horz" wrap="square" lIns="0" tIns="19050" rIns="0" bIns="0" rtlCol="0">
            <a:spAutoFit/>
          </a:bodyPr>
          <a:lstStyle/>
          <a:p>
            <a:pPr marL="19050">
              <a:spcBef>
                <a:spcPts val="150"/>
              </a:spcBef>
            </a:pPr>
            <a:r>
              <a:rPr lang="en-US" sz="6000" spc="-15" dirty="0">
                <a:solidFill>
                  <a:schemeClr val="tx2">
                    <a:lumMod val="75000"/>
                  </a:schemeClr>
                </a:solidFill>
              </a:rPr>
              <a:t>LITERATURE REVIEW</a:t>
            </a:r>
            <a:endParaRPr sz="6000" dirty="0">
              <a:solidFill>
                <a:schemeClr val="tx2">
                  <a:lumMod val="75000"/>
                </a:schemeClr>
              </a:solidFill>
            </a:endParaRPr>
          </a:p>
        </p:txBody>
      </p:sp>
      <p:graphicFrame>
        <p:nvGraphicFramePr>
          <p:cNvPr id="2" name="Table 1">
            <a:extLst>
              <a:ext uri="{FF2B5EF4-FFF2-40B4-BE49-F238E27FC236}">
                <a16:creationId xmlns:a16="http://schemas.microsoft.com/office/drawing/2014/main" id="{E5C9CBD5-30D8-BAE7-3EC0-254116423DC2}"/>
              </a:ext>
            </a:extLst>
          </p:cNvPr>
          <p:cNvGraphicFramePr>
            <a:graphicFrameLocks noGrp="1"/>
          </p:cNvGraphicFramePr>
          <p:nvPr/>
        </p:nvGraphicFramePr>
        <p:xfrm>
          <a:off x="800100" y="1935617"/>
          <a:ext cx="16802100" cy="8108120"/>
        </p:xfrm>
        <a:graphic>
          <a:graphicData uri="http://schemas.openxmlformats.org/drawingml/2006/table">
            <a:tbl>
              <a:tblPr/>
              <a:tblGrid>
                <a:gridCol w="4200525">
                  <a:extLst>
                    <a:ext uri="{9D8B030D-6E8A-4147-A177-3AD203B41FA5}">
                      <a16:colId xmlns:a16="http://schemas.microsoft.com/office/drawing/2014/main" val="4073452033"/>
                    </a:ext>
                  </a:extLst>
                </a:gridCol>
                <a:gridCol w="4200525">
                  <a:extLst>
                    <a:ext uri="{9D8B030D-6E8A-4147-A177-3AD203B41FA5}">
                      <a16:colId xmlns:a16="http://schemas.microsoft.com/office/drawing/2014/main" val="601000145"/>
                    </a:ext>
                  </a:extLst>
                </a:gridCol>
                <a:gridCol w="4200525">
                  <a:extLst>
                    <a:ext uri="{9D8B030D-6E8A-4147-A177-3AD203B41FA5}">
                      <a16:colId xmlns:a16="http://schemas.microsoft.com/office/drawing/2014/main" val="3373472393"/>
                    </a:ext>
                  </a:extLst>
                </a:gridCol>
                <a:gridCol w="4200525">
                  <a:extLst>
                    <a:ext uri="{9D8B030D-6E8A-4147-A177-3AD203B41FA5}">
                      <a16:colId xmlns:a16="http://schemas.microsoft.com/office/drawing/2014/main" val="2666964070"/>
                    </a:ext>
                  </a:extLst>
                </a:gridCol>
              </a:tblGrid>
              <a:tr h="564320">
                <a:tc>
                  <a:txBody>
                    <a:bodyPr/>
                    <a:lstStyle/>
                    <a:p>
                      <a:pPr algn="ctr">
                        <a:buNone/>
                      </a:pPr>
                      <a:r>
                        <a:rPr lang="en-IN" sz="2400" b="1" dirty="0"/>
                        <a:t>PAPER AND AUTHOR DETAILS</a:t>
                      </a:r>
                      <a:endParaRPr lang="en-IN" sz="2400" dirty="0"/>
                    </a:p>
                  </a:txBody>
                  <a:tcPr marL="76775" marR="76775" marT="38388" marB="383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b="1" dirty="0"/>
                        <a:t>DESCRIPTION</a:t>
                      </a:r>
                      <a:endParaRPr lang="en-IN" sz="2400" dirty="0"/>
                    </a:p>
                  </a:txBody>
                  <a:tcPr marL="76775" marR="76775" marT="38388" marB="383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b="1" dirty="0"/>
                        <a:t>ADVANTAGES</a:t>
                      </a:r>
                      <a:endParaRPr lang="en-IN" sz="2400" dirty="0"/>
                    </a:p>
                  </a:txBody>
                  <a:tcPr marL="76775" marR="76775" marT="38388" marB="383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b="1" dirty="0"/>
                        <a:t>RESEARCH GAPS</a:t>
                      </a:r>
                      <a:endParaRPr lang="en-IN" sz="2400" dirty="0"/>
                    </a:p>
                  </a:txBody>
                  <a:tcPr marL="76775" marR="76775" marT="38388" marB="383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6354278"/>
                  </a:ext>
                </a:extLst>
              </a:tr>
              <a:tr h="2194560">
                <a:tc>
                  <a:txBody>
                    <a:bodyPr/>
                    <a:lstStyle/>
                    <a:p>
                      <a:pPr>
                        <a:buNone/>
                      </a:pPr>
                      <a:r>
                        <a:rPr lang="en-GB" sz="2700"/>
                        <a:t>“Wearable IoT Enabled Real-Time Health Monitoring System” J. Wan et al., 2018 (EURASIP Journal)</a:t>
                      </a:r>
                    </a:p>
                  </a:txBody>
                  <a:tcPr marL="137160" marR="13716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700"/>
                        <a:t>Proposes WISE system using wearable sensors and cloud for real-time health monitoring</a:t>
                      </a:r>
                    </a:p>
                  </a:txBody>
                  <a:tcPr marL="137160" marR="13716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700"/>
                        <a:t>Real-time monitoring, Cloud integration, Multiple sensors</a:t>
                      </a:r>
                    </a:p>
                  </a:txBody>
                  <a:tcPr marL="137160" marR="13716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700"/>
                        <a:t>Requires continuous connectivity, Device dependency</a:t>
                      </a:r>
                    </a:p>
                  </a:txBody>
                  <a:tcPr marL="137160" marR="13716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6169292"/>
                  </a:ext>
                </a:extLst>
              </a:tr>
              <a:tr h="1783080">
                <a:tc>
                  <a:txBody>
                    <a:bodyPr/>
                    <a:lstStyle/>
                    <a:p>
                      <a:pPr>
                        <a:buNone/>
                      </a:pPr>
                      <a:r>
                        <a:rPr lang="en-GB" sz="2700"/>
                        <a:t>“An IoT System for Remote Health Monitoring in Elderly Adults” L.A. Durán-Vega et al., 2019</a:t>
                      </a:r>
                    </a:p>
                  </a:txBody>
                  <a:tcPr marL="137160" marR="13716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700"/>
                        <a:t>System for monitoring elderly health remotely and improving caregiver communication</a:t>
                      </a:r>
                    </a:p>
                  </a:txBody>
                  <a:tcPr marL="137160" marR="13716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700"/>
                        <a:t>Remote monitoring, Better patient supervision, Real-time alerts</a:t>
                      </a:r>
                    </a:p>
                  </a:txBody>
                  <a:tcPr marL="137160" marR="13716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700"/>
                        <a:t>Limited prediction capability, Infrastructure dependency</a:t>
                      </a:r>
                    </a:p>
                  </a:txBody>
                  <a:tcPr marL="137160" marR="13716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9703085"/>
                  </a:ext>
                </a:extLst>
              </a:tr>
              <a:tr h="1783080">
                <a:tc>
                  <a:txBody>
                    <a:bodyPr/>
                    <a:lstStyle/>
                    <a:p>
                      <a:pPr>
                        <a:buNone/>
                      </a:pPr>
                      <a:r>
                        <a:rPr lang="en-GB" sz="2700"/>
                        <a:t>“IoT Wearable Sensors and Devices in Elderly Care” T.G. Stavropoulos et al., 2020</a:t>
                      </a:r>
                    </a:p>
                  </a:txBody>
                  <a:tcPr marL="137160" marR="13716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700"/>
                        <a:t>Review of IoT wearable systems for elderly care and ambient assisted living</a:t>
                      </a:r>
                    </a:p>
                  </a:txBody>
                  <a:tcPr marL="137160" marR="13716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700"/>
                        <a:t>Reliable monitoring, Supports independent living, Scalable</a:t>
                      </a:r>
                    </a:p>
                  </a:txBody>
                  <a:tcPr marL="137160" marR="13716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700"/>
                        <a:t>Privacy concerns, High data handling complexity</a:t>
                      </a:r>
                    </a:p>
                  </a:txBody>
                  <a:tcPr marL="137160" marR="13716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3364544"/>
                  </a:ext>
                </a:extLst>
              </a:tr>
              <a:tr h="1783080">
                <a:tc>
                  <a:txBody>
                    <a:bodyPr/>
                    <a:lstStyle/>
                    <a:p>
                      <a:pPr>
                        <a:buNone/>
                      </a:pPr>
                      <a:r>
                        <a:rPr lang="en-GB" sz="2700"/>
                        <a:t>“IoT-Based Elderly Health Monitoring System Using Firebase Cloud” A. Efendi et al., 2025</a:t>
                      </a:r>
                    </a:p>
                  </a:txBody>
                  <a:tcPr marL="137160" marR="13716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700"/>
                        <a:t>IoT system with real-time monitoring, cloud storage, and ML-based prediction</a:t>
                      </a:r>
                    </a:p>
                  </a:txBody>
                  <a:tcPr marL="137160" marR="13716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700"/>
                        <a:t>High accuracy, Real-time alerts, Improves quality of life</a:t>
                      </a:r>
                    </a:p>
                  </a:txBody>
                  <a:tcPr marL="137160" marR="13716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700" dirty="0"/>
                        <a:t>Requires internet, System complexity</a:t>
                      </a:r>
                    </a:p>
                  </a:txBody>
                  <a:tcPr marL="137160" marR="137160" marT="68580" marB="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534293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2934285" y="2611836"/>
            <a:ext cx="5200886" cy="7662447"/>
          </a:xfrm>
          <a:custGeom>
            <a:avLst/>
            <a:gdLst/>
            <a:ahLst/>
            <a:cxnLst/>
            <a:rect l="l" t="t" r="r" b="b"/>
            <a:pathLst>
              <a:path w="5200886" h="7662447">
                <a:moveTo>
                  <a:pt x="0" y="0"/>
                </a:moveTo>
                <a:lnTo>
                  <a:pt x="5200886" y="0"/>
                </a:lnTo>
                <a:lnTo>
                  <a:pt x="5200886" y="7662447"/>
                </a:lnTo>
                <a:lnTo>
                  <a:pt x="0" y="7662447"/>
                </a:lnTo>
                <a:lnTo>
                  <a:pt x="0" y="0"/>
                </a:lnTo>
                <a:close/>
              </a:path>
            </a:pathLst>
          </a:custGeom>
          <a:blipFill>
            <a:blip r:embed="rId3"/>
            <a:stretch>
              <a:fillRect/>
            </a:stretch>
          </a:blipFill>
        </p:spPr>
        <p:txBody>
          <a:bodyPr/>
          <a:lstStyle/>
          <a:p>
            <a:endParaRPr lang="en-IN"/>
          </a:p>
        </p:txBody>
      </p:sp>
      <p:sp>
        <p:nvSpPr>
          <p:cNvPr id="9" name="TextBox 9"/>
          <p:cNvSpPr txBox="1"/>
          <p:nvPr/>
        </p:nvSpPr>
        <p:spPr>
          <a:xfrm>
            <a:off x="3581400" y="952500"/>
            <a:ext cx="11480166" cy="1173142"/>
          </a:xfrm>
          <a:prstGeom prst="rect">
            <a:avLst/>
          </a:prstGeom>
        </p:spPr>
        <p:txBody>
          <a:bodyPr lIns="0" tIns="0" rIns="0" bIns="0" rtlCol="0" anchor="t">
            <a:spAutoFit/>
          </a:bodyPr>
          <a:lstStyle/>
          <a:p>
            <a:pPr marL="0" lvl="0" indent="0" algn="ctr">
              <a:lnSpc>
                <a:spcPts val="8953"/>
              </a:lnSpc>
            </a:pPr>
            <a:r>
              <a:rPr lang="en-US" sz="7994" b="1" dirty="0">
                <a:solidFill>
                  <a:schemeClr val="tx2">
                    <a:lumMod val="75000"/>
                  </a:schemeClr>
                </a:solidFill>
                <a:latin typeface="Cinzel Bold"/>
                <a:ea typeface="Cinzel Bold"/>
                <a:cs typeface="Cinzel Bold"/>
                <a:sym typeface="Cinzel Bold"/>
              </a:rPr>
              <a:t>Problem Statement</a:t>
            </a:r>
          </a:p>
        </p:txBody>
      </p:sp>
      <p:sp>
        <p:nvSpPr>
          <p:cNvPr id="25" name="TextBox 24">
            <a:extLst>
              <a:ext uri="{FF2B5EF4-FFF2-40B4-BE49-F238E27FC236}">
                <a16:creationId xmlns:a16="http://schemas.microsoft.com/office/drawing/2014/main" id="{EC5F771F-2080-1B79-65DF-734EBDA2B2A5}"/>
              </a:ext>
            </a:extLst>
          </p:cNvPr>
          <p:cNvSpPr txBox="1"/>
          <p:nvPr/>
        </p:nvSpPr>
        <p:spPr>
          <a:xfrm>
            <a:off x="1219200" y="3666172"/>
            <a:ext cx="9677400" cy="2246769"/>
          </a:xfrm>
          <a:prstGeom prst="rect">
            <a:avLst/>
          </a:prstGeom>
          <a:noFill/>
        </p:spPr>
        <p:txBody>
          <a:bodyPr wrap="square">
            <a:spAutoFit/>
          </a:bodyPr>
          <a:lstStyle/>
          <a:p>
            <a:pPr>
              <a:buNone/>
            </a:pPr>
            <a:r>
              <a:rPr lang="en-GB" sz="2800" dirty="0"/>
              <a:t>Elderly individuals often forget medications and lack continuous monitoring, which increases health risks. Existing systems are complex and expensive, making them difficult to use. Hence, a simple and user-friendly solution is needed to ensure safety and support.</a:t>
            </a:r>
            <a:endParaRPr lang="en-GB" sz="280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3009900" y="419100"/>
            <a:ext cx="13258800" cy="1173142"/>
          </a:xfrm>
          <a:prstGeom prst="rect">
            <a:avLst/>
          </a:prstGeom>
        </p:spPr>
        <p:txBody>
          <a:bodyPr wrap="square" lIns="0" tIns="0" rIns="0" bIns="0" rtlCol="0" anchor="t">
            <a:spAutoFit/>
          </a:bodyPr>
          <a:lstStyle/>
          <a:p>
            <a:pPr marL="0" lvl="0" indent="0" algn="l">
              <a:lnSpc>
                <a:spcPts val="8953"/>
              </a:lnSpc>
            </a:pPr>
            <a:r>
              <a:rPr lang="en-US" sz="7994" b="1" dirty="0">
                <a:solidFill>
                  <a:srgbClr val="000000"/>
                </a:solidFill>
                <a:latin typeface="Cinzel Bold"/>
                <a:ea typeface="Cinzel Bold"/>
                <a:cs typeface="Cinzel Bold"/>
                <a:sym typeface="Cinzel Bold"/>
              </a:rPr>
              <a:t>SYSTEM ARCHITECTURE</a:t>
            </a:r>
          </a:p>
        </p:txBody>
      </p:sp>
      <p:pic>
        <p:nvPicPr>
          <p:cNvPr id="15" name="Picture 14">
            <a:extLst>
              <a:ext uri="{FF2B5EF4-FFF2-40B4-BE49-F238E27FC236}">
                <a16:creationId xmlns:a16="http://schemas.microsoft.com/office/drawing/2014/main" id="{A8CA0106-BC32-FED4-B30A-5A9826DCEF0F}"/>
              </a:ext>
            </a:extLst>
          </p:cNvPr>
          <p:cNvPicPr>
            <a:picLocks noChangeAspect="1"/>
          </p:cNvPicPr>
          <p:nvPr/>
        </p:nvPicPr>
        <p:blipFill>
          <a:blip r:embed="rId2"/>
          <a:stretch>
            <a:fillRect/>
          </a:stretch>
        </p:blipFill>
        <p:spPr>
          <a:xfrm>
            <a:off x="2857500" y="1610677"/>
            <a:ext cx="12573000" cy="8382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66800" y="3698220"/>
            <a:ext cx="10396590" cy="4001095"/>
          </a:xfrm>
          <a:prstGeom prst="rect">
            <a:avLst/>
          </a:prstGeom>
        </p:spPr>
        <p:txBody>
          <a:bodyPr wrap="square" lIns="0" tIns="0" rIns="0" bIns="0" rtlCol="0" anchor="t">
            <a:spAutoFit/>
          </a:bodyPr>
          <a:lstStyle/>
          <a:p>
            <a:pPr algn="just">
              <a:lnSpc>
                <a:spcPts val="2569"/>
              </a:lnSpc>
              <a:spcBef>
                <a:spcPct val="0"/>
              </a:spcBef>
            </a:pPr>
            <a:r>
              <a:rPr lang="en-US" sz="2294" dirty="0">
                <a:solidFill>
                  <a:srgbClr val="000000"/>
                </a:solidFill>
                <a:latin typeface="Public Sans"/>
                <a:ea typeface="Public Sans"/>
                <a:cs typeface="Public Sans"/>
                <a:sym typeface="Public Sans"/>
              </a:rPr>
              <a:t>G-Care is a simple yet powerful system designed to support elderly people in their daily lives. It ensures they take the right medicine at the right time through guided reminders, visual cues, and easy interaction.</a:t>
            </a:r>
          </a:p>
          <a:p>
            <a:pPr algn="just">
              <a:lnSpc>
                <a:spcPts val="2569"/>
              </a:lnSpc>
              <a:spcBef>
                <a:spcPct val="0"/>
              </a:spcBef>
            </a:pPr>
            <a:endParaRPr lang="en-US" sz="2294" dirty="0">
              <a:solidFill>
                <a:srgbClr val="000000"/>
              </a:solidFill>
              <a:latin typeface="Public Sans"/>
              <a:ea typeface="Public Sans"/>
              <a:cs typeface="Public Sans"/>
              <a:sym typeface="Public Sans"/>
            </a:endParaRPr>
          </a:p>
          <a:p>
            <a:pPr algn="just">
              <a:lnSpc>
                <a:spcPts val="2569"/>
              </a:lnSpc>
              <a:spcBef>
                <a:spcPct val="0"/>
              </a:spcBef>
            </a:pPr>
            <a:r>
              <a:rPr lang="en-US" sz="2294" dirty="0">
                <a:solidFill>
                  <a:srgbClr val="000000"/>
                </a:solidFill>
                <a:latin typeface="Public Sans"/>
                <a:ea typeface="Public Sans"/>
                <a:cs typeface="Public Sans"/>
                <a:sym typeface="Public Sans"/>
              </a:rPr>
              <a:t>By combining wearable technology, voice assistance, and a guardian dashboard, the system improves safety, reduces dependency, and provides real-time monitoring. </a:t>
            </a:r>
          </a:p>
          <a:p>
            <a:pPr algn="just">
              <a:lnSpc>
                <a:spcPts val="2569"/>
              </a:lnSpc>
              <a:spcBef>
                <a:spcPct val="0"/>
              </a:spcBef>
            </a:pPr>
            <a:endParaRPr lang="en-US" sz="2294" dirty="0">
              <a:solidFill>
                <a:srgbClr val="000000"/>
              </a:solidFill>
              <a:latin typeface="Public Sans"/>
              <a:ea typeface="Public Sans"/>
              <a:cs typeface="Public Sans"/>
              <a:sym typeface="Public Sans"/>
            </a:endParaRPr>
          </a:p>
          <a:p>
            <a:pPr algn="just">
              <a:lnSpc>
                <a:spcPts val="2569"/>
              </a:lnSpc>
              <a:spcBef>
                <a:spcPct val="0"/>
              </a:spcBef>
            </a:pPr>
            <a:r>
              <a:rPr lang="en-US" sz="2294" dirty="0">
                <a:solidFill>
                  <a:srgbClr val="000000"/>
                </a:solidFill>
                <a:latin typeface="Public Sans"/>
                <a:ea typeface="Public Sans"/>
                <a:cs typeface="Public Sans"/>
                <a:sym typeface="Public Sans"/>
              </a:rPr>
              <a:t>G-Care helps elderly individuals live more independently while keeping their families connected and reassured. Because safety is not about surviving, its about living without fear. </a:t>
            </a:r>
          </a:p>
          <a:p>
            <a:pPr algn="just">
              <a:lnSpc>
                <a:spcPts val="2569"/>
              </a:lnSpc>
              <a:spcBef>
                <a:spcPct val="0"/>
              </a:spcBef>
            </a:pPr>
            <a:endParaRPr lang="en-US" sz="2294" dirty="0">
              <a:solidFill>
                <a:srgbClr val="000000"/>
              </a:solidFill>
              <a:latin typeface="Public Sans"/>
              <a:ea typeface="Public Sans"/>
              <a:cs typeface="Public Sans"/>
              <a:sym typeface="Public Sans"/>
            </a:endParaRPr>
          </a:p>
        </p:txBody>
      </p:sp>
      <p:sp>
        <p:nvSpPr>
          <p:cNvPr id="3" name="TextBox 3"/>
          <p:cNvSpPr txBox="1"/>
          <p:nvPr/>
        </p:nvSpPr>
        <p:spPr>
          <a:xfrm>
            <a:off x="3726242" y="646800"/>
            <a:ext cx="11353800" cy="1377949"/>
          </a:xfrm>
          <a:prstGeom prst="rect">
            <a:avLst/>
          </a:prstGeom>
        </p:spPr>
        <p:txBody>
          <a:bodyPr wrap="square" lIns="0" tIns="0" rIns="0" bIns="0" rtlCol="0" anchor="t">
            <a:spAutoFit/>
          </a:bodyPr>
          <a:lstStyle/>
          <a:p>
            <a:pPr algn="ctr">
              <a:lnSpc>
                <a:spcPts val="11200"/>
              </a:lnSpc>
            </a:pPr>
            <a:r>
              <a:rPr lang="en-US" sz="8000" b="1" dirty="0">
                <a:solidFill>
                  <a:srgbClr val="000000"/>
                </a:solidFill>
                <a:latin typeface="Cinzel Bold"/>
                <a:ea typeface="Cinzel Bold"/>
                <a:cs typeface="Cinzel Bold"/>
                <a:sym typeface="Cinzel Bold"/>
              </a:rPr>
              <a:t>Conclusion</a:t>
            </a:r>
          </a:p>
        </p:txBody>
      </p:sp>
      <p:sp>
        <p:nvSpPr>
          <p:cNvPr id="4" name="Freeform 4"/>
          <p:cNvSpPr/>
          <p:nvPr/>
        </p:nvSpPr>
        <p:spPr>
          <a:xfrm>
            <a:off x="12805629" y="2244724"/>
            <a:ext cx="4593073" cy="8075732"/>
          </a:xfrm>
          <a:custGeom>
            <a:avLst/>
            <a:gdLst/>
            <a:ahLst/>
            <a:cxnLst/>
            <a:rect l="l" t="t" r="r" b="b"/>
            <a:pathLst>
              <a:path w="4593073" h="8075732">
                <a:moveTo>
                  <a:pt x="0" y="0"/>
                </a:moveTo>
                <a:lnTo>
                  <a:pt x="4593073" y="0"/>
                </a:lnTo>
                <a:lnTo>
                  <a:pt x="4593073" y="8075733"/>
                </a:lnTo>
                <a:lnTo>
                  <a:pt x="0" y="8075733"/>
                </a:lnTo>
                <a:lnTo>
                  <a:pt x="0" y="0"/>
                </a:lnTo>
                <a:close/>
              </a:path>
            </a:pathLst>
          </a:custGeom>
          <a:blipFill>
            <a:blip r:embed="rId2"/>
            <a:stretch>
              <a:fillRect/>
            </a:stretch>
          </a:blipFill>
        </p:spPr>
      </p:sp>
      <p:sp>
        <p:nvSpPr>
          <p:cNvPr id="5" name="TextBox 5"/>
          <p:cNvSpPr txBox="1"/>
          <p:nvPr/>
        </p:nvSpPr>
        <p:spPr>
          <a:xfrm>
            <a:off x="3900425" y="8139265"/>
            <a:ext cx="4786375" cy="415755"/>
          </a:xfrm>
          <a:prstGeom prst="rect">
            <a:avLst/>
          </a:prstGeom>
        </p:spPr>
        <p:txBody>
          <a:bodyPr wrap="square" lIns="0" tIns="0" rIns="0" bIns="0" rtlCol="0" anchor="t">
            <a:spAutoFit/>
          </a:bodyPr>
          <a:lstStyle/>
          <a:p>
            <a:pPr algn="ctr">
              <a:lnSpc>
                <a:spcPts val="3500"/>
              </a:lnSpc>
            </a:pPr>
            <a:r>
              <a:rPr lang="en-US" sz="2500" dirty="0">
                <a:solidFill>
                  <a:srgbClr val="000000"/>
                </a:solidFill>
                <a:latin typeface="The Seasons"/>
                <a:ea typeface="The Seasons"/>
                <a:cs typeface="The Seasons"/>
                <a:sym typeface="The Seasons"/>
              </a:rPr>
              <a:t>G-care - Future of  Health Care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TotalTime>
  <Words>481</Words>
  <Application>Microsoft Office PowerPoint</Application>
  <PresentationFormat>Custom</PresentationFormat>
  <Paragraphs>61</Paragraphs>
  <Slides>7</Slides>
  <Notes>2</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7</vt:i4>
      </vt:variant>
    </vt:vector>
  </HeadingPairs>
  <TitlesOfParts>
    <vt:vector size="17" baseType="lpstr">
      <vt:lpstr>Times New Roman</vt:lpstr>
      <vt:lpstr>Wingdings</vt:lpstr>
      <vt:lpstr>Calibri</vt:lpstr>
      <vt:lpstr>Public Sans</vt:lpstr>
      <vt:lpstr>Arial</vt:lpstr>
      <vt:lpstr>The Seasons</vt:lpstr>
      <vt:lpstr>Cinzel Bold</vt:lpstr>
      <vt:lpstr>Office Theme</vt:lpstr>
      <vt:lpstr>1_Office Theme</vt:lpstr>
      <vt:lpstr>2_Office Theme</vt:lpstr>
      <vt:lpstr>Department of CSE(AI&amp;ML)  Academic year: 2026-27</vt:lpstr>
      <vt:lpstr>CONTENTS</vt:lpstr>
      <vt:lpstr> INTRODUCTION</vt:lpstr>
      <vt:lpstr>LITERATURE REVIEW</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Topic:G-Care</dc:title>
  <dc:creator>Yeshrutha Gowda</dc:creator>
  <cp:lastModifiedBy>Yeshrutha Gowda</cp:lastModifiedBy>
  <cp:revision>6</cp:revision>
  <dcterms:created xsi:type="dcterms:W3CDTF">2006-08-16T00:00:00Z</dcterms:created>
  <dcterms:modified xsi:type="dcterms:W3CDTF">2026-05-13T19:45:11Z</dcterms:modified>
  <dc:identifier>DAHFmgBOoE0</dc:identifier>
</cp:coreProperties>
</file>