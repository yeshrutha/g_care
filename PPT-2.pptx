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66" r:id="rId3"/>
    <p:sldMasterId id="2147483672" r:id="rId4"/>
  </p:sldMasterIdLst>
  <p:notesMasterIdLst>
    <p:notesMasterId r:id="rId25"/>
  </p:notesMasterIdLst>
  <p:sldIdLst>
    <p:sldId id="263" r:id="rId5"/>
    <p:sldId id="264" r:id="rId6"/>
    <p:sldId id="265" r:id="rId7"/>
    <p:sldId id="260" r:id="rId8"/>
    <p:sldId id="272" r:id="rId9"/>
    <p:sldId id="257" r:id="rId10"/>
    <p:sldId id="258" r:id="rId11"/>
    <p:sldId id="261" r:id="rId12"/>
    <p:sldId id="267" r:id="rId13"/>
    <p:sldId id="268" r:id="rId14"/>
    <p:sldId id="269" r:id="rId15"/>
    <p:sldId id="271" r:id="rId16"/>
    <p:sldId id="278" r:id="rId17"/>
    <p:sldId id="274" r:id="rId18"/>
    <p:sldId id="275" r:id="rId19"/>
    <p:sldId id="276" r:id="rId20"/>
    <p:sldId id="277" r:id="rId21"/>
    <p:sldId id="273" r:id="rId22"/>
    <p:sldId id="262" r:id="rId23"/>
    <p:sldId id="266" r:id="rId24"/>
  </p:sldIdLst>
  <p:sldSz cx="18288000" cy="10287000"/>
  <p:notesSz cx="6858000" cy="9144000"/>
  <p:embeddedFontLst>
    <p:embeddedFont>
      <p:font typeface="Cinzel Bold" panose="020B0604020202020204" charset="0"/>
      <p:regular r:id="rId26"/>
    </p:embeddedFont>
    <p:embeddedFont>
      <p:font typeface="Public Sans Bold" panose="020B0604020202020204" charset="0"/>
      <p:regular r:id="rId27"/>
    </p:embeddedFont>
    <p:embeddedFont>
      <p:font typeface="The Season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20CC6-FC42-4F80-811B-84369816A49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A9A87-BA44-4F1B-9FC4-A453A0A7A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8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29AFC-A9E8-43E9-A384-A327A2025A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56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A9A87-BA44-4F1B-9FC4-A453A0A7A0C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4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1693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17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6547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90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1440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7249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555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338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8202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24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058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3014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977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4409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27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427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450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35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569" y="3200401"/>
            <a:ext cx="12458700" cy="10348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60070" marR="7620" indent="-541973" algn="ctr">
              <a:spcBef>
                <a:spcPts val="150"/>
              </a:spcBef>
            </a:pPr>
            <a:r>
              <a:rPr sz="3300" dirty="0">
                <a:solidFill>
                  <a:srgbClr val="000000"/>
                </a:solidFill>
              </a:rPr>
              <a:t>Department</a:t>
            </a:r>
            <a:r>
              <a:rPr sz="3300" spc="-10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of</a:t>
            </a:r>
            <a:r>
              <a:rPr sz="3300" spc="-98" dirty="0">
                <a:solidFill>
                  <a:srgbClr val="000000"/>
                </a:solidFill>
              </a:rPr>
              <a:t> </a:t>
            </a:r>
            <a:r>
              <a:rPr sz="3300" spc="-15" dirty="0">
                <a:solidFill>
                  <a:srgbClr val="000000"/>
                </a:solidFill>
              </a:rPr>
              <a:t>CSE(AI&amp;ML) </a:t>
            </a:r>
            <a:br>
              <a:rPr lang="en-US" sz="3300" spc="-15" dirty="0">
                <a:solidFill>
                  <a:srgbClr val="000000"/>
                </a:solidFill>
              </a:rPr>
            </a:br>
            <a:r>
              <a:rPr sz="3300" dirty="0">
                <a:solidFill>
                  <a:srgbClr val="000000"/>
                </a:solidFill>
              </a:rPr>
              <a:t>Academic</a:t>
            </a:r>
            <a:r>
              <a:rPr sz="3300" spc="-10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year:</a:t>
            </a:r>
            <a:r>
              <a:rPr sz="3300" spc="-98" dirty="0">
                <a:solidFill>
                  <a:srgbClr val="000000"/>
                </a:solidFill>
              </a:rPr>
              <a:t> </a:t>
            </a:r>
            <a:r>
              <a:rPr sz="3300" spc="-30" dirty="0">
                <a:solidFill>
                  <a:srgbClr val="000000"/>
                </a:solidFill>
              </a:rPr>
              <a:t>202</a:t>
            </a:r>
            <a:r>
              <a:rPr lang="en-US" sz="3300" spc="-30" dirty="0">
                <a:solidFill>
                  <a:srgbClr val="000000"/>
                </a:solidFill>
              </a:rPr>
              <a:t>6</a:t>
            </a:r>
            <a:r>
              <a:rPr sz="3300" spc="-30" dirty="0">
                <a:solidFill>
                  <a:srgbClr val="000000"/>
                </a:solidFill>
              </a:rPr>
              <a:t>-</a:t>
            </a:r>
            <a:r>
              <a:rPr sz="3300" spc="-38" dirty="0">
                <a:solidFill>
                  <a:srgbClr val="000000"/>
                </a:solidFill>
              </a:rPr>
              <a:t>2</a:t>
            </a:r>
            <a:r>
              <a:rPr lang="en-US" sz="3300" spc="-38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7500" y="4112192"/>
            <a:ext cx="12458700" cy="1567417"/>
          </a:xfrm>
          <a:prstGeom prst="rect">
            <a:avLst/>
          </a:prstGeom>
        </p:spPr>
        <p:txBody>
          <a:bodyPr vert="horz" wrap="square" lIns="0" tIns="246698" rIns="0" bIns="0" rtlCol="0">
            <a:spAutoFit/>
          </a:bodyPr>
          <a:lstStyle/>
          <a:p>
            <a:pPr algn="ctr" defTabSz="1371600">
              <a:spcBef>
                <a:spcPts val="1943"/>
              </a:spcBef>
            </a:pPr>
            <a:r>
              <a:rPr lang="en-IN"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 Phase II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BCI685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Presentation</a:t>
            </a:r>
            <a:r>
              <a:rPr lang="en-IN"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1</a:t>
            </a:r>
            <a:r>
              <a:rPr lang="en-US"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sz="33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R="63818" algn="ctr" defTabSz="1371600">
              <a:spcBef>
                <a:spcPts val="1958"/>
              </a:spcBef>
            </a:pPr>
            <a:r>
              <a:rPr sz="36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600" b="1" kern="0" spc="-15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Title</a:t>
            </a:r>
            <a:r>
              <a:rPr lang="en-US" sz="36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: G-CARE 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53036" y="6746558"/>
            <a:ext cx="5213033" cy="256390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050" defTabSz="1371600">
              <a:spcBef>
                <a:spcPts val="570"/>
              </a:spcBef>
            </a:pPr>
            <a:r>
              <a:rPr sz="30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GUIDE: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Prof. Sreehari M</a:t>
            </a:r>
            <a:endParaRPr sz="3000" kern="0" spc="-3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Assistant Professor </a:t>
            </a:r>
            <a:r>
              <a:rPr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</a:p>
          <a:p>
            <a:pPr marL="19050" marR="7620" defTabSz="1371600">
              <a:lnSpc>
                <a:spcPct val="112000"/>
              </a:lnSpc>
            </a:pPr>
            <a:r>
              <a:rPr sz="30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3000" kern="0" spc="-4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  <a:sym typeface="+mn-ea"/>
              </a:rPr>
              <a:t>CSE(AI&amp;ML)</a:t>
            </a: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</a:rPr>
              <a:t>EW</a:t>
            </a:r>
            <a:r>
              <a:rPr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</a:rPr>
              <a:t>IT, </a:t>
            </a:r>
            <a:r>
              <a:rPr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Bengaluru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1568" y="6722555"/>
            <a:ext cx="6993732" cy="258660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050" defTabSz="1371600">
              <a:spcBef>
                <a:spcPts val="570"/>
              </a:spcBef>
            </a:pPr>
            <a:r>
              <a:rPr sz="3000" b="1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000" b="1" kern="0" spc="-9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TEAM: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Yeshrutha S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 - 1EW23CI063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Abhay Vadagi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- 1EW23CI002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Saicharan G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- 1EW23CI043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Venkat Sai Kowshik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- 1EW23CI041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1B1502-B778-0218-80A3-FB43BF34404F}"/>
              </a:ext>
            </a:extLst>
          </p:cNvPr>
          <p:cNvSpPr txBox="1">
            <a:spLocks/>
          </p:cNvSpPr>
          <p:nvPr/>
        </p:nvSpPr>
        <p:spPr>
          <a:xfrm>
            <a:off x="3759516" y="801775"/>
            <a:ext cx="10768965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algn="ctr" defTabSz="1371600"/>
            <a: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  <a:t>EAST WEST INSTITUTE OF TECHNOLOGY</a:t>
            </a:r>
            <a:b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</a:br>
            <a: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  <a:t>DEPARTMENT OF CSE(AI&amp;ML)</a:t>
            </a:r>
            <a:b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</a:br>
            <a:endParaRPr lang="en-US" sz="3600" kern="0" dirty="0">
              <a:solidFill>
                <a:srgbClr val="1F497D">
                  <a:lumMod val="75000"/>
                </a:srgbClr>
              </a:solidFill>
            </a:endParaRPr>
          </a:p>
        </p:txBody>
      </p:sp>
      <p:pic>
        <p:nvPicPr>
          <p:cNvPr id="9" name="Picture 0" descr="eastwest-logo.png">
            <a:extLst>
              <a:ext uri="{FF2B5EF4-FFF2-40B4-BE49-F238E27FC236}">
                <a16:creationId xmlns:a16="http://schemas.microsoft.com/office/drawing/2014/main" id="{D45B9995-4497-E04F-6068-FD9807BC13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39" y="743775"/>
            <a:ext cx="1435761" cy="1525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2191EE-B221-BC59-EAB2-C35DFE54A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961" y="302155"/>
            <a:ext cx="1944218" cy="19616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2800" y="779649"/>
            <a:ext cx="4724400" cy="94256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C</a:t>
            </a:r>
            <a:r>
              <a:rPr lang="en-IN"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ONTENTS</a:t>
            </a:r>
            <a:endParaRPr sz="6000" dirty="0">
              <a:solidFill>
                <a:schemeClr val="tx2">
                  <a:lumMod val="75000"/>
                </a:schemeClr>
              </a:solidFill>
              <a:latin typeface="Cinzel Bold" panose="020B06040202020202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096348"/>
            <a:ext cx="6324600" cy="741100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06755" indent="-514350" defTabSz="1371600">
              <a:spcBef>
                <a:spcPts val="2220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Background of the problem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Motivation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Problem Statement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Objectives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Phase I Summary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Phase II Summary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Implementation Progress</a:t>
            </a:r>
            <a:endParaRPr lang="en-US" sz="2700" kern="0" spc="-15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Results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Conclusions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References</a:t>
            </a:r>
            <a:endParaRPr lang="en-US"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1675" y="23316"/>
            <a:ext cx="6724650" cy="18658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algn="ctr">
              <a:spcBef>
                <a:spcPts val="150"/>
              </a:spcBef>
            </a:pPr>
            <a:br>
              <a:rPr lang="en-US" sz="6000" spc="-15" dirty="0">
                <a:solidFill>
                  <a:schemeClr val="tx2">
                    <a:lumMod val="50000"/>
                  </a:schemeClr>
                </a:solidFill>
              </a:rPr>
            </a:br>
            <a:r>
              <a:rPr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INTRODUCTION</a:t>
            </a:r>
            <a:endParaRPr sz="6000" dirty="0">
              <a:solidFill>
                <a:schemeClr val="tx2">
                  <a:lumMod val="75000"/>
                </a:schemeClr>
              </a:solidFill>
              <a:latin typeface="Cinzel Bold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D44C2-2CDA-B2FE-902D-E06ED5657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096" y="2171700"/>
            <a:ext cx="7234002" cy="640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875A3E-D6DD-068B-5739-9FF9A7572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1" y="8686801"/>
            <a:ext cx="3543299" cy="128291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846D7A55-6ADB-FAA2-42DD-76CC51AD9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4747"/>
            <a:ext cx="373179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 defTabSz="13716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latin typeface="Arial" panose="020B0604020202020204" pitchFamily="34" charset="0"/>
            </a:endParaRPr>
          </a:p>
          <a:p>
            <a:pPr defTabSz="1371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9BD470-4F86-F095-9DB2-0F995933C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2768772"/>
            <a:ext cx="7955280" cy="6401753"/>
          </a:xfrm>
        </p:spPr>
        <p:txBody>
          <a:bodyPr/>
          <a:lstStyle/>
          <a:p>
            <a:r>
              <a:rPr lang="en-IN" sz="3200" b="1" dirty="0">
                <a:latin typeface="+mn-lt"/>
              </a:rPr>
              <a:t>Guardian Care</a:t>
            </a:r>
            <a:r>
              <a:rPr lang="en-IN" sz="3200" dirty="0">
                <a:latin typeface="+mn-lt"/>
              </a:rPr>
              <a:t> is a smart elderly-care and health-monitoring system designed to improve the safety, independence, and well-being of senior citizens.</a:t>
            </a:r>
          </a:p>
          <a:p>
            <a:endParaRPr lang="en-IN" sz="3200" dirty="0">
              <a:latin typeface="+mn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Monitors vital health parameters and daily activity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Sends instant alerts during emergencies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Helps guardians and doctors track elderly users remotely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Provides medication reminders and multilingual accessibility</a:t>
            </a:r>
          </a:p>
          <a:p>
            <a:pPr marL="428625" indent="-428625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647700"/>
            <a:ext cx="12954000" cy="94256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lang="en-US" sz="6000" spc="-15" dirty="0">
                <a:solidFill>
                  <a:schemeClr val="tx2">
                    <a:lumMod val="75000"/>
                  </a:schemeClr>
                </a:solidFill>
              </a:rPr>
              <a:t>BACKGROUND OF THE PROBLEM</a:t>
            </a:r>
            <a:endParaRPr sz="6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39008-2D1C-AFF6-1D77-016047D4F348}"/>
              </a:ext>
            </a:extLst>
          </p:cNvPr>
          <p:cNvSpPr txBox="1"/>
          <p:nvPr/>
        </p:nvSpPr>
        <p:spPr>
          <a:xfrm>
            <a:off x="3048000" y="2324100"/>
            <a:ext cx="12192000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dirty="0"/>
              <a:t>Many elderly people live alone or require continuous supervision due to age-related health risks.</a:t>
            </a:r>
          </a:p>
          <a:p>
            <a:pPr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Delayed help during falls, abnormal vitals, or emergencies can be dangerous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Family members cannot monitor health conditions continuously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Medication schedules are often missed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Existing systems may be costly, difficult to use, or lack personalized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42CF-8773-337A-2A9F-54E1C770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984" y="723900"/>
            <a:ext cx="5882031" cy="1015663"/>
          </a:xfrm>
        </p:spPr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EDB15-1C25-73B1-F47B-E33D647F50C7}"/>
              </a:ext>
            </a:extLst>
          </p:cNvPr>
          <p:cNvSpPr txBox="1"/>
          <p:nvPr/>
        </p:nvSpPr>
        <p:spPr>
          <a:xfrm>
            <a:off x="3581400" y="2550162"/>
            <a:ext cx="11582400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dirty="0"/>
              <a:t>The project is motivated by the need to make elderly care more proactive, accessible, and technology-driven.</a:t>
            </a:r>
          </a:p>
          <a:p>
            <a:pPr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Ensure timely assistance during emergencies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Reduce caregiver workload through remote monitoring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Improve medication adherence and daily routine management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Give families peace of mind through real-time alerts and updates</a:t>
            </a:r>
          </a:p>
        </p:txBody>
      </p:sp>
    </p:spTree>
    <p:extLst>
      <p:ext uri="{BB962C8B-B14F-4D97-AF65-F5344CB8AC3E}">
        <p14:creationId xmlns:p14="http://schemas.microsoft.com/office/powerpoint/2010/main" val="377348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2461123" y="2624553"/>
            <a:ext cx="5200886" cy="7662447"/>
          </a:xfrm>
          <a:custGeom>
            <a:avLst/>
            <a:gdLst/>
            <a:ahLst/>
            <a:cxnLst/>
            <a:rect l="l" t="t" r="r" b="b"/>
            <a:pathLst>
              <a:path w="5200886" h="7662447">
                <a:moveTo>
                  <a:pt x="0" y="0"/>
                </a:moveTo>
                <a:lnTo>
                  <a:pt x="5200886" y="0"/>
                </a:lnTo>
                <a:lnTo>
                  <a:pt x="5200886" y="7662447"/>
                </a:lnTo>
                <a:lnTo>
                  <a:pt x="0" y="7662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3581400" y="952500"/>
            <a:ext cx="11480166" cy="117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3"/>
              </a:lnSpc>
            </a:pPr>
            <a:r>
              <a:rPr lang="en-US" sz="7994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5F771F-2080-1B79-65DF-734EBDA2B2A5}"/>
              </a:ext>
            </a:extLst>
          </p:cNvPr>
          <p:cNvSpPr txBox="1"/>
          <p:nvPr/>
        </p:nvSpPr>
        <p:spPr>
          <a:xfrm>
            <a:off x="1219200" y="3619500"/>
            <a:ext cx="10363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To develop an integrated elderly-care system that monitors health and safety information, detects emergency situations, sends alerts to guardians, and provides an easy-to-use interface for elderly users, caregivers, and doctors.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35362" y="3518408"/>
            <a:ext cx="8819689" cy="4826791"/>
          </a:xfrm>
          <a:custGeom>
            <a:avLst/>
            <a:gdLst/>
            <a:ahLst/>
            <a:cxnLst/>
            <a:rect l="l" t="t" r="r" b="b"/>
            <a:pathLst>
              <a:path w="11807767" h="5461092">
                <a:moveTo>
                  <a:pt x="0" y="0"/>
                </a:moveTo>
                <a:lnTo>
                  <a:pt x="11807766" y="0"/>
                </a:lnTo>
                <a:lnTo>
                  <a:pt x="11807766" y="5461092"/>
                </a:lnTo>
                <a:lnTo>
                  <a:pt x="0" y="546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257800" y="685991"/>
            <a:ext cx="6533689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960"/>
              </a:lnSpc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03674" y="2276637"/>
            <a:ext cx="8376745" cy="7310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Monitor vital signs such as heart rate, temperature, SpO₂, and blood pressure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Detect falls and emergency situations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Send SOS notifications to guardians or caregivers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Provide medicine and appointment reminders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Maintain health logs for doctors and family members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Support simple, multilingual, senior-friendly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171950" y="437535"/>
            <a:ext cx="10134600" cy="1173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3"/>
              </a:lnSpc>
            </a:pPr>
            <a:r>
              <a:rPr lang="en-US" sz="7994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PHASE I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A8672-C0A3-FCAA-08F7-4EEBA89A31E7}"/>
              </a:ext>
            </a:extLst>
          </p:cNvPr>
          <p:cNvSpPr txBox="1"/>
          <p:nvPr/>
        </p:nvSpPr>
        <p:spPr>
          <a:xfrm>
            <a:off x="3295650" y="2476500"/>
            <a:ext cx="11887200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dirty="0"/>
              <a:t>During Phase I, the project focused on planning, requirement analysis, and prototype design.</a:t>
            </a:r>
          </a:p>
          <a:p>
            <a:pPr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Identified problems faced by elderly people and caregivers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Conducted system requirement analysis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Designed the overall architecture and user flow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Created initial dashboard and interface prototypes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Planned modules for vital monitoring, emergency alerts, reminders, and guardian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4B46-728A-34DC-450F-A17196B0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200" y="800100"/>
            <a:ext cx="8991600" cy="1066800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PHASE II SUMMARY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6741237-F9F2-588C-CA8E-337E3EA1F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442219"/>
            <a:ext cx="160020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dirty="0"/>
              <a:t>During Phase II, the planned features were developed and integrated into the working prototype.</a:t>
            </a:r>
          </a:p>
          <a:p>
            <a:endParaRPr lang="en-IN" sz="32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ESP32-S3-WROOM-1</a:t>
            </a:r>
            <a:r>
              <a:rPr lang="en-IN" sz="3200" dirty="0"/>
              <a:t>: Main controller with Wi-Fi and Bluetooth connectivity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MAX30102</a:t>
            </a:r>
            <a:r>
              <a:rPr lang="en-IN" sz="3200" dirty="0"/>
              <a:t>: Measures heart rate and SpO₂ level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MAX30205</a:t>
            </a:r>
            <a:r>
              <a:rPr lang="en-IN" sz="3200" dirty="0"/>
              <a:t>: Monitors body temperature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MPU6050</a:t>
            </a:r>
            <a:r>
              <a:rPr lang="en-IN" sz="3200" dirty="0"/>
              <a:t>: Supports fall detection and activity monitoring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OLED Display</a:t>
            </a:r>
            <a:r>
              <a:rPr lang="en-IN" sz="3200" dirty="0"/>
              <a:t>: Shows vital signs, battery status, GPS status, and alerts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NEO-6M GPS</a:t>
            </a:r>
            <a:r>
              <a:rPr lang="en-IN" sz="3200" dirty="0"/>
              <a:t>: Tracks location and sends alerts during emergencies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SOS Button, Buzzer &amp; Vibration Motor</a:t>
            </a:r>
            <a:r>
              <a:rPr lang="en-IN" sz="3200" dirty="0"/>
              <a:t>: Enables immediate manual emergency activation and user notifications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RTC, Li-Po Battery, Charger &amp; Regulator</a:t>
            </a:r>
            <a:r>
              <a:rPr lang="en-IN" sz="3200" dirty="0"/>
              <a:t>: Ensures accurate event logging and reliable portable power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b="1" dirty="0"/>
              <a:t>PCB &amp; Enclosure</a:t>
            </a:r>
            <a:r>
              <a:rPr lang="en-IN" sz="3200" dirty="0"/>
              <a:t>: Makes the system compact, durable, and wearable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3200" dirty="0"/>
              <a:t>Estimated hardware cost: </a:t>
            </a:r>
            <a:r>
              <a:rPr lang="en-IN" sz="3200" b="1" dirty="0"/>
              <a:t>around ₹6,000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536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D12C-31A5-0B4C-5B43-2DD698DA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06363"/>
            <a:ext cx="13487400" cy="1219200"/>
          </a:xfrm>
        </p:spPr>
        <p:txBody>
          <a:bodyPr/>
          <a:lstStyle/>
          <a:p>
            <a:pPr algn="ctr"/>
            <a:r>
              <a:rPr lang="en-IN" dirty="0">
                <a:latin typeface="Cinzel Bold" panose="020B0604020202020204" charset="0"/>
              </a:rPr>
              <a:t>IMPLEMENTATION PROGRESS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27A110F9-09C9-A9E7-F949-4DB9C1C1FAB1}"/>
              </a:ext>
            </a:extLst>
          </p:cNvPr>
          <p:cNvGrpSpPr/>
          <p:nvPr/>
        </p:nvGrpSpPr>
        <p:grpSpPr>
          <a:xfrm>
            <a:off x="1371600" y="2091194"/>
            <a:ext cx="6074400" cy="1219200"/>
            <a:chOff x="0" y="0"/>
            <a:chExt cx="2044444" cy="45986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38C4E40-08E2-5A20-06B6-DF736C4DF453}"/>
                </a:ext>
              </a:extLst>
            </p:cNvPr>
            <p:cNvSpPr/>
            <p:nvPr/>
          </p:nvSpPr>
          <p:spPr>
            <a:xfrm>
              <a:off x="0" y="0"/>
              <a:ext cx="2044444" cy="459860"/>
            </a:xfrm>
            <a:custGeom>
              <a:avLst/>
              <a:gdLst/>
              <a:ahLst/>
              <a:cxnLst/>
              <a:rect l="l" t="t" r="r" b="b"/>
              <a:pathLst>
                <a:path w="2044444" h="459860">
                  <a:moveTo>
                    <a:pt x="1841244" y="0"/>
                  </a:moveTo>
                  <a:cubicBezTo>
                    <a:pt x="1953468" y="0"/>
                    <a:pt x="2044444" y="102943"/>
                    <a:pt x="2044444" y="229930"/>
                  </a:cubicBezTo>
                  <a:cubicBezTo>
                    <a:pt x="2044444" y="356917"/>
                    <a:pt x="1953468" y="459860"/>
                    <a:pt x="1841244" y="459860"/>
                  </a:cubicBezTo>
                  <a:lnTo>
                    <a:pt x="203200" y="459860"/>
                  </a:lnTo>
                  <a:cubicBezTo>
                    <a:pt x="90976" y="459860"/>
                    <a:pt x="0" y="356917"/>
                    <a:pt x="0" y="229930"/>
                  </a:cubicBezTo>
                  <a:cubicBezTo>
                    <a:pt x="0" y="102943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7F1FF">
                    <a:alpha val="35000"/>
                  </a:srgbClr>
                </a:gs>
                <a:gs pos="25000">
                  <a:srgbClr val="E8F1FF">
                    <a:alpha val="45000"/>
                  </a:srgbClr>
                </a:gs>
                <a:gs pos="50000">
                  <a:srgbClr val="E5EFFE">
                    <a:alpha val="55000"/>
                  </a:srgbClr>
                </a:gs>
                <a:gs pos="75000">
                  <a:srgbClr val="E8F1FE">
                    <a:alpha val="45000"/>
                  </a:srgbClr>
                </a:gs>
                <a:gs pos="100000">
                  <a:srgbClr val="E8F1FE">
                    <a:alpha val="35000"/>
                  </a:srgbClr>
                </a:gs>
              </a:gsLst>
              <a:lin ang="2700000"/>
            </a:gradFill>
            <a:ln w="19050" cap="sq">
              <a:solidFill>
                <a:srgbClr val="E9F2F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7B6848F8-F495-6EB3-F0F4-D44919F6F3F5}"/>
                </a:ext>
              </a:extLst>
            </p:cNvPr>
            <p:cNvSpPr txBox="1"/>
            <p:nvPr/>
          </p:nvSpPr>
          <p:spPr>
            <a:xfrm>
              <a:off x="0" y="9525"/>
              <a:ext cx="2044444" cy="45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81"/>
                </a:lnSpc>
              </a:pPr>
              <a:endParaRPr/>
            </a:p>
          </p:txBody>
        </p:sp>
      </p:grpSp>
      <p:sp>
        <p:nvSpPr>
          <p:cNvPr id="18" name="TextBox 19">
            <a:extLst>
              <a:ext uri="{FF2B5EF4-FFF2-40B4-BE49-F238E27FC236}">
                <a16:creationId xmlns:a16="http://schemas.microsoft.com/office/drawing/2014/main" id="{D89C43EC-CECA-0BBA-5F07-C80FBC43307F}"/>
              </a:ext>
            </a:extLst>
          </p:cNvPr>
          <p:cNvSpPr txBox="1"/>
          <p:nvPr/>
        </p:nvSpPr>
        <p:spPr>
          <a:xfrm>
            <a:off x="950495" y="2700794"/>
            <a:ext cx="6074400" cy="356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10"/>
              </a:lnSpc>
            </a:pPr>
            <a:r>
              <a:rPr lang="en-US" sz="36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COMPLETED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02531E-4663-3E7F-538D-A3F819E1F7E5}"/>
              </a:ext>
            </a:extLst>
          </p:cNvPr>
          <p:cNvSpPr txBox="1"/>
          <p:nvPr/>
        </p:nvSpPr>
        <p:spPr>
          <a:xfrm>
            <a:off x="950495" y="3476025"/>
            <a:ext cx="697430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User authentication and role-based access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Elderly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Guardian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Vital signs monitoring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SOS emergency alert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Medicine reminders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Health and activity logs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Doctor portal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Multilingual interface support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C64F6CC3-E6E6-E933-5D23-B6E27D7F0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D10A4F-9FF9-4270-C89D-2AEA1CBA3CB1}"/>
              </a:ext>
            </a:extLst>
          </p:cNvPr>
          <p:cNvGrpSpPr/>
          <p:nvPr/>
        </p:nvGrpSpPr>
        <p:grpSpPr>
          <a:xfrm>
            <a:off x="10495547" y="2195972"/>
            <a:ext cx="6074400" cy="1168694"/>
            <a:chOff x="0" y="9525"/>
            <a:chExt cx="2044444" cy="4503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E0D9933-23A8-D589-35DE-82DDC6200EC6}"/>
                </a:ext>
              </a:extLst>
            </p:cNvPr>
            <p:cNvSpPr/>
            <p:nvPr/>
          </p:nvSpPr>
          <p:spPr>
            <a:xfrm>
              <a:off x="0" y="9525"/>
              <a:ext cx="2044444" cy="450335"/>
            </a:xfrm>
            <a:custGeom>
              <a:avLst/>
              <a:gdLst/>
              <a:ahLst/>
              <a:cxnLst/>
              <a:rect l="l" t="t" r="r" b="b"/>
              <a:pathLst>
                <a:path w="2044444" h="459860">
                  <a:moveTo>
                    <a:pt x="1841244" y="0"/>
                  </a:moveTo>
                  <a:cubicBezTo>
                    <a:pt x="1953468" y="0"/>
                    <a:pt x="2044444" y="102943"/>
                    <a:pt x="2044444" y="229930"/>
                  </a:cubicBezTo>
                  <a:cubicBezTo>
                    <a:pt x="2044444" y="356917"/>
                    <a:pt x="1953468" y="459860"/>
                    <a:pt x="1841244" y="459860"/>
                  </a:cubicBezTo>
                  <a:lnTo>
                    <a:pt x="203200" y="459860"/>
                  </a:lnTo>
                  <a:cubicBezTo>
                    <a:pt x="90976" y="459860"/>
                    <a:pt x="0" y="356917"/>
                    <a:pt x="0" y="229930"/>
                  </a:cubicBezTo>
                  <a:cubicBezTo>
                    <a:pt x="0" y="102943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7F1FF">
                    <a:alpha val="35000"/>
                  </a:srgbClr>
                </a:gs>
                <a:gs pos="25000">
                  <a:srgbClr val="E8F1FF">
                    <a:alpha val="45000"/>
                  </a:srgbClr>
                </a:gs>
                <a:gs pos="50000">
                  <a:srgbClr val="E5EFFE">
                    <a:alpha val="55000"/>
                  </a:srgbClr>
                </a:gs>
                <a:gs pos="75000">
                  <a:srgbClr val="E8F1FE">
                    <a:alpha val="45000"/>
                  </a:srgbClr>
                </a:gs>
                <a:gs pos="100000">
                  <a:srgbClr val="E8F1FE">
                    <a:alpha val="35000"/>
                  </a:srgbClr>
                </a:gs>
              </a:gsLst>
              <a:lin ang="2700000"/>
            </a:gradFill>
            <a:ln w="19050" cap="sq">
              <a:solidFill>
                <a:srgbClr val="E9F2FE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sz="3600" b="1" dirty="0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2C828BC3-903D-798E-825E-C995D1BF2C04}"/>
                </a:ext>
              </a:extLst>
            </p:cNvPr>
            <p:cNvSpPr txBox="1"/>
            <p:nvPr/>
          </p:nvSpPr>
          <p:spPr>
            <a:xfrm>
              <a:off x="0" y="9525"/>
              <a:ext cx="2044444" cy="45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81"/>
                </a:lnSpc>
              </a:pPr>
              <a:endParaRPr/>
            </a:p>
          </p:txBody>
        </p:sp>
      </p:grpSp>
      <p:sp>
        <p:nvSpPr>
          <p:cNvPr id="21" name="TextBox 19">
            <a:extLst>
              <a:ext uri="{FF2B5EF4-FFF2-40B4-BE49-F238E27FC236}">
                <a16:creationId xmlns:a16="http://schemas.microsoft.com/office/drawing/2014/main" id="{D2ED9C36-9700-A632-7CD9-E71CEDF5B783}"/>
              </a:ext>
            </a:extLst>
          </p:cNvPr>
          <p:cNvSpPr txBox="1"/>
          <p:nvPr/>
        </p:nvSpPr>
        <p:spPr>
          <a:xfrm>
            <a:off x="10495547" y="2700793"/>
            <a:ext cx="6074400" cy="356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10"/>
              </a:lnSpc>
            </a:pPr>
            <a:r>
              <a:rPr lang="en-US" sz="36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CURRENT STATUS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1D7973-B113-9A3F-AA92-50E3F3D695BA}"/>
              </a:ext>
            </a:extLst>
          </p:cNvPr>
          <p:cNvSpPr txBox="1"/>
          <p:nvPr/>
        </p:nvSpPr>
        <p:spPr>
          <a:xfrm>
            <a:off x="10094495" y="3634055"/>
            <a:ext cx="72430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The web-based Guardian Care prototype is functional and demonstrates the main workflow between elderly users, guardians, and doctors. The system currently uses demo/simulated data for health monitoring and alerts. Future work can connect it to wearable sensors and cloud-based real-time databases.</a:t>
            </a:r>
          </a:p>
        </p:txBody>
      </p:sp>
    </p:spTree>
    <p:extLst>
      <p:ext uri="{BB962C8B-B14F-4D97-AF65-F5344CB8AC3E}">
        <p14:creationId xmlns:p14="http://schemas.microsoft.com/office/powerpoint/2010/main" val="930832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9A72-D64D-2459-B87C-F23F7006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041" y="571500"/>
            <a:ext cx="5569915" cy="10156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PROTOTYPE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F8E53-EF62-D14F-553F-3D56FA34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1714500"/>
            <a:ext cx="183361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9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28ADB-6D2F-3CDE-C57E-D7CB3C56E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5714" cy="103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1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12B7C0-F2B9-4525-3D43-DB8F0ABB1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29" y="647700"/>
            <a:ext cx="17244942" cy="89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0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114792-DDC1-CBBB-57C7-CA795EC69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65" y="571500"/>
            <a:ext cx="17546469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4210E-5247-1DBA-8A53-A5EFF29F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0100"/>
            <a:ext cx="16687799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7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2FFBB-200D-DFAC-B8DC-E2C28D69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2500"/>
            <a:ext cx="16535400" cy="868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7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25158-8D3D-FCE0-213B-D6A14681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00100"/>
            <a:ext cx="16687799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9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15B1-EC1E-7403-8679-C1BA468A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800100"/>
            <a:ext cx="4053230" cy="1015663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E4C51-EE91-8483-DBE4-FA5691DEDE56}"/>
              </a:ext>
            </a:extLst>
          </p:cNvPr>
          <p:cNvSpPr txBox="1"/>
          <p:nvPr/>
        </p:nvSpPr>
        <p:spPr>
          <a:xfrm>
            <a:off x="4343400" y="2545417"/>
            <a:ext cx="101346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Faster emergency response through SOS and alert notifications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Better health awareness through continuous vital monitoring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Improved medicine adherence through reminders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Easier communication between elderly users, families, and doctors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Increased confidence and independence for senior citizens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A scalable platform that can be integrated with smartwatches or IoT devices</a:t>
            </a:r>
          </a:p>
        </p:txBody>
      </p:sp>
    </p:spTree>
    <p:extLst>
      <p:ext uri="{BB962C8B-B14F-4D97-AF65-F5344CB8AC3E}">
        <p14:creationId xmlns:p14="http://schemas.microsoft.com/office/powerpoint/2010/main" val="378135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3848100"/>
            <a:ext cx="10396590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dirty="0"/>
              <a:t>Guardian Care demonstrates how digital health technology can support safer and more independent living for elderly people.</a:t>
            </a:r>
          </a:p>
          <a:p>
            <a:endParaRPr lang="en-IN" sz="2800" dirty="0"/>
          </a:p>
          <a:p>
            <a:r>
              <a:rPr lang="en-IN" sz="2800" dirty="0"/>
              <a:t>The system combines health monitoring, emergency alerts, medication reminders, and remote caregiver access in one platform. With wearable-device integration and real-time data storage, Guardian Care can become a practical solution for modern elderly healthcare.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67100" y="836696"/>
            <a:ext cx="11353800" cy="137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2805629" y="2244724"/>
            <a:ext cx="4593073" cy="8075732"/>
          </a:xfrm>
          <a:custGeom>
            <a:avLst/>
            <a:gdLst/>
            <a:ahLst/>
            <a:cxnLst/>
            <a:rect l="l" t="t" r="r" b="b"/>
            <a:pathLst>
              <a:path w="4593073" h="8075732">
                <a:moveTo>
                  <a:pt x="0" y="0"/>
                </a:moveTo>
                <a:lnTo>
                  <a:pt x="4593073" y="0"/>
                </a:lnTo>
                <a:lnTo>
                  <a:pt x="4593073" y="8075733"/>
                </a:lnTo>
                <a:lnTo>
                  <a:pt x="0" y="8075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3505200" y="7505700"/>
            <a:ext cx="5105400" cy="425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G-care - Future of  Health Care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0D30-02F3-B8EF-887E-78EC3451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1104900"/>
            <a:ext cx="5943600" cy="10156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3EFED1-7CBF-5CEB-DE9A-43DF22F0A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95600" y="3009900"/>
            <a:ext cx="12954000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Wan, J. et al., “Wearable IoT Enabled Real-Time Health Monitoring System,” EURASIP Journal, 2018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Durán-Vega, L.A. et al., “IoT System for Remote Health Monitoring,” 2019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Stavropoulos, T.G.et al., “IoT Wearable Sensors in Elderly Care,” 2020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Efendi, A. et al., “IoT-Based Elderly Monitoring Using Firebase,” 2025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 Detection using Wearable Sensors Study </a:t>
            </a:r>
          </a:p>
        </p:txBody>
      </p:sp>
    </p:spTree>
    <p:extLst>
      <p:ext uri="{BB962C8B-B14F-4D97-AF65-F5344CB8AC3E}">
        <p14:creationId xmlns:p14="http://schemas.microsoft.com/office/powerpoint/2010/main" val="174387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816</Words>
  <Application>Microsoft Office PowerPoint</Application>
  <PresentationFormat>Custom</PresentationFormat>
  <Paragraphs>113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Wingdings</vt:lpstr>
      <vt:lpstr>Calibri</vt:lpstr>
      <vt:lpstr>The Seasons</vt:lpstr>
      <vt:lpstr>Times New Roman</vt:lpstr>
      <vt:lpstr>Cinzel Bold</vt:lpstr>
      <vt:lpstr>Public Sans Bold</vt:lpstr>
      <vt:lpstr>Office Theme</vt:lpstr>
      <vt:lpstr>1_Office Theme</vt:lpstr>
      <vt:lpstr>2_Office Theme</vt:lpstr>
      <vt:lpstr>3_Office Theme</vt:lpstr>
      <vt:lpstr>Department of CSE(AI&amp;ML)  Academic year: 2026-27</vt:lpstr>
      <vt:lpstr>CONTENTS</vt:lpstr>
      <vt:lpstr> INTRODUCTION</vt:lpstr>
      <vt:lpstr>BACKGROUND OF THE PROBLEM</vt:lpstr>
      <vt:lpstr>MOTIVATION</vt:lpstr>
      <vt:lpstr>PowerPoint Presentation</vt:lpstr>
      <vt:lpstr>PowerPoint Presentation</vt:lpstr>
      <vt:lpstr>PowerPoint Presentation</vt:lpstr>
      <vt:lpstr>PHASE II SUMMARY</vt:lpstr>
      <vt:lpstr>IMPLEMENTATION PROGRESS</vt:lpstr>
      <vt:lpstr>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Topic:G-Care</dc:title>
  <dc:creator>Yeshrutha Gowda</dc:creator>
  <cp:lastModifiedBy>Yeshrutha Gowda</cp:lastModifiedBy>
  <cp:revision>8</cp:revision>
  <dcterms:created xsi:type="dcterms:W3CDTF">2006-08-16T00:00:00Z</dcterms:created>
  <dcterms:modified xsi:type="dcterms:W3CDTF">2026-07-17T06:18:05Z</dcterms:modified>
  <dc:identifier>DAHFmgBOoE0</dc:identifier>
</cp:coreProperties>
</file>