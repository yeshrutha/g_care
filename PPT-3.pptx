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66" r:id="rId3"/>
    <p:sldMasterId id="2147483672" r:id="rId4"/>
  </p:sldMasterIdLst>
  <p:notesMasterIdLst>
    <p:notesMasterId r:id="rId25"/>
  </p:notesMasterIdLst>
  <p:sldIdLst>
    <p:sldId id="263" r:id="rId5"/>
    <p:sldId id="264" r:id="rId6"/>
    <p:sldId id="265" r:id="rId7"/>
    <p:sldId id="260" r:id="rId8"/>
    <p:sldId id="272" r:id="rId9"/>
    <p:sldId id="257" r:id="rId10"/>
    <p:sldId id="258" r:id="rId11"/>
    <p:sldId id="261" r:id="rId12"/>
    <p:sldId id="267" r:id="rId13"/>
    <p:sldId id="268" r:id="rId14"/>
    <p:sldId id="269" r:id="rId15"/>
    <p:sldId id="271" r:id="rId16"/>
    <p:sldId id="278" r:id="rId17"/>
    <p:sldId id="274" r:id="rId18"/>
    <p:sldId id="275" r:id="rId19"/>
    <p:sldId id="276" r:id="rId20"/>
    <p:sldId id="277" r:id="rId21"/>
    <p:sldId id="273" r:id="rId22"/>
    <p:sldId id="262" r:id="rId23"/>
    <p:sldId id="266" r:id="rId24"/>
  </p:sldIdLst>
  <p:sldSz cx="18288000" cy="10287000"/>
  <p:notesSz cx="6858000" cy="9144000"/>
  <p:embeddedFontLst>
    <p:embeddedFont>
      <p:font typeface="Cinzel Bold" panose="020B0604020202020204" charset="0"/>
      <p:regular r:id="rId26"/>
    </p:embeddedFont>
    <p:embeddedFont>
      <p:font typeface="Public Sans Bold" panose="020B0604020202020204" charset="0"/>
      <p:regular r:id="rId27"/>
    </p:embeddedFont>
    <p:embeddedFont>
      <p:font typeface="The Season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DC5AB3-4242-48EF-B038-C5F4679ABEC7}" v="3" dt="2026-08-19T07:14:39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shrutha Gowda" userId="50860fcbe27d45ed" providerId="LiveId" clId="{0EAAF5AF-5546-41EF-B285-147AB226A863}"/>
    <pc:docChg chg="undo custSel addSld delSld modSld">
      <pc:chgData name="Yeshrutha Gowda" userId="50860fcbe27d45ed" providerId="LiveId" clId="{0EAAF5AF-5546-41EF-B285-147AB226A863}" dt="2026-08-19T07:16:43.116" v="120" actId="47"/>
      <pc:docMkLst>
        <pc:docMk/>
      </pc:docMkLst>
      <pc:sldChg chg="modSp mod">
        <pc:chgData name="Yeshrutha Gowda" userId="50860fcbe27d45ed" providerId="LiveId" clId="{0EAAF5AF-5546-41EF-B285-147AB226A863}" dt="2026-08-19T07:16:31.743" v="118" actId="20577"/>
        <pc:sldMkLst>
          <pc:docMk/>
          <pc:sldMk cId="0" sldId="263"/>
        </pc:sldMkLst>
        <pc:spChg chg="mod">
          <ac:chgData name="Yeshrutha Gowda" userId="50860fcbe27d45ed" providerId="LiveId" clId="{0EAAF5AF-5546-41EF-B285-147AB226A863}" dt="2026-08-19T07:16:31.743" v="118" actId="20577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">
        <pc:chgData name="Yeshrutha Gowda" userId="50860fcbe27d45ed" providerId="LiveId" clId="{0EAAF5AF-5546-41EF-B285-147AB226A863}" dt="2026-08-19T07:14:59.646" v="114" actId="1076"/>
        <pc:sldMkLst>
          <pc:docMk/>
          <pc:sldMk cId="3781350510" sldId="273"/>
        </pc:sldMkLst>
        <pc:spChg chg="mod">
          <ac:chgData name="Yeshrutha Gowda" userId="50860fcbe27d45ed" providerId="LiveId" clId="{0EAAF5AF-5546-41EF-B285-147AB226A863}" dt="2026-08-19T07:14:59.646" v="114" actId="1076"/>
          <ac:spMkLst>
            <pc:docMk/>
            <pc:sldMk cId="3781350510" sldId="273"/>
            <ac:spMk id="4" creationId="{68CE4C51-EE91-8483-DBE4-FA5691DEDE56}"/>
          </ac:spMkLst>
        </pc:spChg>
        <pc:picChg chg="add del">
          <ac:chgData name="Yeshrutha Gowda" userId="50860fcbe27d45ed" providerId="LiveId" clId="{0EAAF5AF-5546-41EF-B285-147AB226A863}" dt="2026-08-19T07:11:41.661" v="2" actId="478"/>
          <ac:picMkLst>
            <pc:docMk/>
            <pc:sldMk cId="3781350510" sldId="273"/>
            <ac:picMk id="5" creationId="{CE4D055D-4262-C603-DA7A-4BCDF339F9BB}"/>
          </ac:picMkLst>
        </pc:picChg>
      </pc:sldChg>
      <pc:sldChg chg="addSp delSp new del mod">
        <pc:chgData name="Yeshrutha Gowda" userId="50860fcbe27d45ed" providerId="LiveId" clId="{0EAAF5AF-5546-41EF-B285-147AB226A863}" dt="2026-08-19T07:16:43.116" v="120" actId="47"/>
        <pc:sldMkLst>
          <pc:docMk/>
          <pc:sldMk cId="244847355" sldId="279"/>
        </pc:sldMkLst>
        <pc:picChg chg="add del">
          <ac:chgData name="Yeshrutha Gowda" userId="50860fcbe27d45ed" providerId="LiveId" clId="{0EAAF5AF-5546-41EF-B285-147AB226A863}" dt="2026-08-19T07:16:40.852" v="119" actId="478"/>
          <ac:picMkLst>
            <pc:docMk/>
            <pc:sldMk cId="244847355" sldId="279"/>
            <ac:picMk id="3" creationId="{AC472C9D-DCD2-64D2-F4D2-1EA7C04CBCD2}"/>
          </ac:picMkLst>
        </pc:picChg>
      </pc:sldChg>
      <pc:sldChg chg="addSp delSp new del mod">
        <pc:chgData name="Yeshrutha Gowda" userId="50860fcbe27d45ed" providerId="LiveId" clId="{0EAAF5AF-5546-41EF-B285-147AB226A863}" dt="2026-08-19T07:13:59.891" v="48" actId="680"/>
        <pc:sldMkLst>
          <pc:docMk/>
          <pc:sldMk cId="2019662224" sldId="279"/>
        </pc:sldMkLst>
        <pc:picChg chg="add del">
          <ac:chgData name="Yeshrutha Gowda" userId="50860fcbe27d45ed" providerId="LiveId" clId="{0EAAF5AF-5546-41EF-B285-147AB226A863}" dt="2026-08-19T07:13:59.587" v="47" actId="22"/>
          <ac:picMkLst>
            <pc:docMk/>
            <pc:sldMk cId="2019662224" sldId="279"/>
            <ac:picMk id="3" creationId="{21960717-9A16-5E71-9C3E-541038DEB39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20CC6-FC42-4F80-811B-84369816A49D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A9A87-BA44-4F1B-9FC4-A453A0A7A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98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329AFC-A9E8-43E9-A384-A327A2025A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456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A9A87-BA44-4F1B-9FC4-A453A0A7A0C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4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693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17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6547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90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1440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7249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4555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338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202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249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058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369332"/>
          </a:xfrm>
        </p:spPr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3014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977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1015663"/>
          </a:xfrm>
        </p:spPr>
        <p:txBody>
          <a:bodyPr lIns="0" tIns="0" rIns="0" bIns="0"/>
          <a:lstStyle>
            <a:lvl1pPr>
              <a:defRPr sz="66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14409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327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427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450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FF6FF">
                <a:alpha val="100000"/>
              </a:srgbClr>
            </a:gs>
            <a:gs pos="100000">
              <a:srgbClr val="5698FF">
                <a:alpha val="100000"/>
              </a:srgb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8570" y="7619"/>
            <a:ext cx="12830861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3938" y="2343473"/>
            <a:ext cx="1621726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35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569" y="3200401"/>
            <a:ext cx="12458700" cy="103489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560070" marR="7620" indent="-541973" algn="ctr">
              <a:spcBef>
                <a:spcPts val="150"/>
              </a:spcBef>
            </a:pPr>
            <a:r>
              <a:rPr sz="3300" dirty="0">
                <a:solidFill>
                  <a:srgbClr val="000000"/>
                </a:solidFill>
              </a:rPr>
              <a:t>Department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of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15" dirty="0">
                <a:solidFill>
                  <a:srgbClr val="000000"/>
                </a:solidFill>
              </a:rPr>
              <a:t>CSE(AI&amp;ML) </a:t>
            </a:r>
            <a:br>
              <a:rPr lang="en-US" sz="3300" spc="-15" dirty="0">
                <a:solidFill>
                  <a:srgbClr val="000000"/>
                </a:solidFill>
              </a:rPr>
            </a:br>
            <a:r>
              <a:rPr sz="3300" dirty="0">
                <a:solidFill>
                  <a:srgbClr val="000000"/>
                </a:solidFill>
              </a:rPr>
              <a:t>Academic</a:t>
            </a:r>
            <a:r>
              <a:rPr sz="3300" spc="-105" dirty="0">
                <a:solidFill>
                  <a:srgbClr val="000000"/>
                </a:solidFill>
              </a:rPr>
              <a:t> </a:t>
            </a:r>
            <a:r>
              <a:rPr sz="3300" dirty="0">
                <a:solidFill>
                  <a:srgbClr val="000000"/>
                </a:solidFill>
              </a:rPr>
              <a:t>year:</a:t>
            </a:r>
            <a:r>
              <a:rPr sz="3300" spc="-98" dirty="0">
                <a:solidFill>
                  <a:srgbClr val="000000"/>
                </a:solidFill>
              </a:rPr>
              <a:t> </a:t>
            </a:r>
            <a:r>
              <a:rPr sz="3300" spc="-30" dirty="0">
                <a:solidFill>
                  <a:srgbClr val="000000"/>
                </a:solidFill>
              </a:rPr>
              <a:t>202</a:t>
            </a:r>
            <a:r>
              <a:rPr lang="en-US" sz="3300" spc="-30" dirty="0">
                <a:solidFill>
                  <a:srgbClr val="000000"/>
                </a:solidFill>
              </a:rPr>
              <a:t>6</a:t>
            </a:r>
            <a:r>
              <a:rPr sz="3300" spc="-30" dirty="0">
                <a:solidFill>
                  <a:srgbClr val="000000"/>
                </a:solidFill>
              </a:rPr>
              <a:t>-</a:t>
            </a:r>
            <a:r>
              <a:rPr sz="3300" spc="-38" dirty="0">
                <a:solidFill>
                  <a:srgbClr val="000000"/>
                </a:solidFill>
              </a:rPr>
              <a:t>2</a:t>
            </a:r>
            <a:r>
              <a:rPr lang="en-US" sz="3300" spc="-38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57500" y="4112192"/>
            <a:ext cx="12458700" cy="1567417"/>
          </a:xfrm>
          <a:prstGeom prst="rect">
            <a:avLst/>
          </a:prstGeom>
        </p:spPr>
        <p:txBody>
          <a:bodyPr vert="horz" wrap="square" lIns="0" tIns="246698" rIns="0" bIns="0" rtlCol="0">
            <a:spAutoFit/>
          </a:bodyPr>
          <a:lstStyle/>
          <a:p>
            <a:pPr algn="ctr" defTabSz="1371600">
              <a:spcBef>
                <a:spcPts val="1943"/>
              </a:spcBef>
            </a:pPr>
            <a:r>
              <a:rPr lang="en-IN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 Phase II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BCI685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)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3300" b="1" kern="0" spc="-53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Presentation</a:t>
            </a:r>
            <a:r>
              <a:rPr lang="en-IN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1</a:t>
            </a:r>
            <a:r>
              <a:rPr lang="en-US" sz="33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endParaRPr sz="33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R="63818" algn="ctr" defTabSz="1371600">
              <a:spcBef>
                <a:spcPts val="1958"/>
              </a:spcBef>
            </a:pPr>
            <a:r>
              <a:rPr sz="3600" b="1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600" b="1" kern="0" spc="-15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Title</a:t>
            </a:r>
            <a:r>
              <a:rPr lang="en-US" sz="36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: G-CARE 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53036" y="6746558"/>
            <a:ext cx="5213033" cy="256390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GUIDE: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Sreehari M</a:t>
            </a:r>
            <a:endParaRPr sz="3000" kern="0" spc="-3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Assistant Professor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9050" marR="7620" defTabSz="1371600">
              <a:lnSpc>
                <a:spcPct val="112000"/>
              </a:lnSpc>
            </a:pP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3000" kern="0" spc="-4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  <a:sym typeface="+mn-ea"/>
              </a:rPr>
              <a:t>CSE(AI&amp;ML)</a:t>
            </a:r>
          </a:p>
          <a:p>
            <a:pPr marL="19050" marR="7620" defTabSz="1371600">
              <a:lnSpc>
                <a:spcPct val="112000"/>
              </a:lnSpc>
            </a:pPr>
            <a:r>
              <a:rPr lang="en-US"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EW</a:t>
            </a:r>
            <a:r>
              <a:rPr sz="3000" kern="0" noProof="1">
                <a:solidFill>
                  <a:sysClr val="windowText" lastClr="000000"/>
                </a:solidFill>
                <a:latin typeface="Times New Roman" panose="02020603050405020304"/>
                <a:ea typeface="Arial" panose="020B0604020202020204" pitchFamily="34" charset="0"/>
                <a:cs typeface="Times New Roman" panose="02020603050405020304"/>
              </a:rPr>
              <a:t>IT, </a:t>
            </a:r>
            <a:r>
              <a:rPr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Bengaluru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1568" y="6722555"/>
            <a:ext cx="6993732" cy="258660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9050" defTabSz="1371600">
              <a:spcBef>
                <a:spcPts val="570"/>
              </a:spcBef>
            </a:pP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PROJECT</a:t>
            </a:r>
            <a:r>
              <a:rPr sz="3000" b="1" kern="0" spc="-9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00" b="1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TEAM: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Yeshrutha S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 - 1EW23CI063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Abhay Vadagi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- 1EW23CI002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Saicharan G</a:t>
            </a:r>
            <a:r>
              <a:rPr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- 1EW23CI043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95300" indent="-381000" defTabSz="1371600">
              <a:spcBef>
                <a:spcPts val="420"/>
              </a:spcBef>
              <a:buFontTx/>
              <a:buAutoNum type="arabicPeriod"/>
              <a:tabLst>
                <a:tab pos="495300" algn="l"/>
              </a:tabLst>
            </a:pPr>
            <a:r>
              <a:rPr lang="en-US" sz="30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Venkat Sai Kowshik</a:t>
            </a:r>
            <a:r>
              <a:rPr lang="en-US" sz="30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- 1EW23CI041</a:t>
            </a:r>
            <a:endParaRPr sz="30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1B1502-B778-0218-80A3-FB43BF34404F}"/>
              </a:ext>
            </a:extLst>
          </p:cNvPr>
          <p:cNvSpPr txBox="1">
            <a:spLocks/>
          </p:cNvSpPr>
          <p:nvPr/>
        </p:nvSpPr>
        <p:spPr>
          <a:xfrm>
            <a:off x="3759516" y="801775"/>
            <a:ext cx="10768965" cy="16619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2"/>
                </a:solidFill>
                <a:latin typeface="Times New Roman" panose="02020603050405020304"/>
                <a:ea typeface="+mj-ea"/>
                <a:cs typeface="Times New Roman" panose="02020603050405020304"/>
              </a:defRPr>
            </a:lvl1pPr>
          </a:lstStyle>
          <a:p>
            <a:pPr algn="ctr" defTabSz="1371600"/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EAST WEST INSTITUTE OF TECHNOLOGY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  <a:t>DEPARTMENT OF CSE(AI&amp;ML)</a:t>
            </a:r>
            <a:br>
              <a:rPr lang="en-US" sz="3600" kern="0" dirty="0">
                <a:solidFill>
                  <a:srgbClr val="1F497D">
                    <a:lumMod val="75000"/>
                  </a:srgbClr>
                </a:solidFill>
              </a:rPr>
            </a:br>
            <a:endParaRPr lang="en-US" sz="3600" kern="0" dirty="0">
              <a:solidFill>
                <a:srgbClr val="1F497D">
                  <a:lumMod val="75000"/>
                </a:srgbClr>
              </a:solidFill>
            </a:endParaRPr>
          </a:p>
        </p:txBody>
      </p:sp>
      <p:pic>
        <p:nvPicPr>
          <p:cNvPr id="9" name="Picture 0" descr="eastwest-logo.png">
            <a:extLst>
              <a:ext uri="{FF2B5EF4-FFF2-40B4-BE49-F238E27FC236}">
                <a16:creationId xmlns:a16="http://schemas.microsoft.com/office/drawing/2014/main" id="{D45B9995-4497-E04F-6068-FD9807BC13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39" y="743775"/>
            <a:ext cx="1435761" cy="1525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191EE-B221-BC59-EAB2-C35DFE54A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961" y="302155"/>
            <a:ext cx="1944218" cy="19616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62800" y="779649"/>
            <a:ext cx="47244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C</a:t>
            </a:r>
            <a:r>
              <a:rPr lang="en-IN"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ONTENTS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096348"/>
            <a:ext cx="6324600" cy="741100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706755" indent="-514350" defTabSz="1371600">
              <a:spcBef>
                <a:spcPts val="2220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Introduction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Background of the problem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Motivation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Problem Statement</a:t>
            </a:r>
            <a:endParaRPr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Objectives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Phase II Summary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30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Implementation Progress</a:t>
            </a:r>
            <a:endParaRPr lang="en-US" sz="2700" kern="0" spc="-15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Results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Conclusions</a:t>
            </a:r>
          </a:p>
          <a:p>
            <a:pPr marL="706755" indent="-514350" defTabSz="1371600">
              <a:spcBef>
                <a:spcPts val="2228"/>
              </a:spcBef>
              <a:buFont typeface="+mj-lt"/>
              <a:buAutoNum type="arabicPeriod"/>
              <a:tabLst>
                <a:tab pos="795338" algn="l"/>
              </a:tabLst>
            </a:pPr>
            <a:r>
              <a:rPr lang="en-US" sz="2700" kern="0" spc="-15" dirty="0">
                <a:solidFill>
                  <a:sysClr val="windowText" lastClr="000000"/>
                </a:solidFill>
                <a:latin typeface="Times New Roman" panose="02020603050405020304"/>
                <a:cs typeface="Times New Roman" panose="02020603050405020304"/>
              </a:rPr>
              <a:t> References</a:t>
            </a:r>
            <a:endParaRPr lang="en-US" sz="2700" kern="0" dirty="0">
              <a:solidFill>
                <a:sysClr val="windowText" lastClr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1675" y="23316"/>
            <a:ext cx="6724650" cy="18658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algn="ctr">
              <a:spcBef>
                <a:spcPts val="150"/>
              </a:spcBef>
            </a:pPr>
            <a:br>
              <a:rPr lang="en-US" sz="6000" spc="-15" dirty="0">
                <a:solidFill>
                  <a:schemeClr val="tx2">
                    <a:lumMod val="50000"/>
                  </a:schemeClr>
                </a:solidFill>
              </a:rPr>
            </a:br>
            <a:r>
              <a:rPr sz="6000" spc="-15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INTRODUCTION</a:t>
            </a:r>
            <a:endParaRPr sz="6000" dirty="0">
              <a:solidFill>
                <a:schemeClr val="tx2">
                  <a:lumMod val="75000"/>
                </a:schemeClr>
              </a:solidFill>
              <a:latin typeface="Cinzel Bold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D44C2-2CDA-B2FE-902D-E06ED565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096" y="2171700"/>
            <a:ext cx="7234002" cy="6400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875A3E-D6DD-068B-5739-9FF9A7572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5801" y="8686801"/>
            <a:ext cx="3543299" cy="128291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846D7A55-6ADB-FAA2-42DD-76CC51AD9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4747"/>
            <a:ext cx="373179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37160" tIns="68580" rIns="137160" bIns="68580" numCol="1" anchor="ctr" anchorCtr="0" compatLnSpc="1">
            <a:prstTxWarp prst="textNoShape">
              <a:avLst/>
            </a:prstTxWarp>
            <a:spAutoFit/>
          </a:bodyPr>
          <a:lstStyle/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700" dirty="0">
              <a:latin typeface="Arial" panose="020B0604020202020204" pitchFamily="34" charset="0"/>
            </a:endParaRPr>
          </a:p>
          <a:p>
            <a:pPr defTabSz="13716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7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D9BD470-4F86-F095-9DB2-0F995933C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2768772"/>
            <a:ext cx="7955280" cy="6401753"/>
          </a:xfrm>
        </p:spPr>
        <p:txBody>
          <a:bodyPr/>
          <a:lstStyle/>
          <a:p>
            <a:pPr algn="just"/>
            <a:r>
              <a:rPr lang="en-IN" sz="3200" b="1" dirty="0">
                <a:latin typeface="+mn-lt"/>
              </a:rPr>
              <a:t>Guardian Care</a:t>
            </a:r>
            <a:r>
              <a:rPr lang="en-IN" sz="3200" dirty="0">
                <a:latin typeface="+mn-lt"/>
              </a:rPr>
              <a:t> is a smart elderly-care and health-monitoring system designed to improve the safety, independence, and well-being of senior citizens.</a:t>
            </a:r>
          </a:p>
          <a:p>
            <a:pPr algn="just"/>
            <a:endParaRPr lang="en-IN" sz="3200" dirty="0">
              <a:latin typeface="+mn-lt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Monitors vital health parameters and daily activity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Sends instant alerts during emergencies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Helps guardians and doctors track elderly users remotely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3200" dirty="0">
                <a:latin typeface="+mn-lt"/>
              </a:rPr>
              <a:t>Provides medication reminders and multilingual accessibility</a:t>
            </a:r>
          </a:p>
          <a:p>
            <a:pPr marL="428625" indent="-428625" algn="just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647700"/>
            <a:ext cx="12954000" cy="942566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lang="en-US" sz="6000" spc="-15" dirty="0">
                <a:solidFill>
                  <a:schemeClr val="tx2">
                    <a:lumMod val="75000"/>
                  </a:schemeClr>
                </a:solidFill>
              </a:rPr>
              <a:t>BACKGROUND OF THE PROBLEM</a:t>
            </a:r>
            <a:endParaRPr sz="6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39008-2D1C-AFF6-1D77-016047D4F348}"/>
              </a:ext>
            </a:extLst>
          </p:cNvPr>
          <p:cNvSpPr txBox="1"/>
          <p:nvPr/>
        </p:nvSpPr>
        <p:spPr>
          <a:xfrm>
            <a:off x="3048000" y="2324100"/>
            <a:ext cx="121920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Many elderly people live alone or require continuous supervision due to age-related health risks.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Delayed help during falls, abnormal vitals, or emergencies can be dangerous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Family members cannot monitor health conditions continuously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Medication schedules are often missed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Existing systems may be costly, difficult to use, or lack personalized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42CF-8773-337A-2A9F-54E1C770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984" y="723900"/>
            <a:ext cx="5882031" cy="1015663"/>
          </a:xfrm>
        </p:spPr>
        <p:txBody>
          <a:bodyPr/>
          <a:lstStyle/>
          <a:p>
            <a:r>
              <a:rPr lang="en-IN" dirty="0"/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EDB15-1C25-73B1-F47B-E33D647F50C7}"/>
              </a:ext>
            </a:extLst>
          </p:cNvPr>
          <p:cNvSpPr txBox="1"/>
          <p:nvPr/>
        </p:nvSpPr>
        <p:spPr>
          <a:xfrm>
            <a:off x="3581400" y="2550162"/>
            <a:ext cx="11582400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The project is motivated by the need to make elderly care more proactive, accessible, and technology-driven.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Ensure timely assistance during emergencies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Reduce caregiver workload through remote monitoring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Improve medication adherence and daily routine management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Give families peace of mind through real-time alerts and updates</a:t>
            </a:r>
          </a:p>
        </p:txBody>
      </p:sp>
    </p:spTree>
    <p:extLst>
      <p:ext uri="{BB962C8B-B14F-4D97-AF65-F5344CB8AC3E}">
        <p14:creationId xmlns:p14="http://schemas.microsoft.com/office/powerpoint/2010/main" val="377348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2461123" y="2624553"/>
            <a:ext cx="5200886" cy="7662447"/>
          </a:xfrm>
          <a:custGeom>
            <a:avLst/>
            <a:gdLst/>
            <a:ahLst/>
            <a:cxnLst/>
            <a:rect l="l" t="t" r="r" b="b"/>
            <a:pathLst>
              <a:path w="5200886" h="7662447">
                <a:moveTo>
                  <a:pt x="0" y="0"/>
                </a:moveTo>
                <a:lnTo>
                  <a:pt x="5200886" y="0"/>
                </a:lnTo>
                <a:lnTo>
                  <a:pt x="5200886" y="7662447"/>
                </a:lnTo>
                <a:lnTo>
                  <a:pt x="0" y="7662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3581400" y="952500"/>
            <a:ext cx="11480166" cy="117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5F771F-2080-1B79-65DF-734EBDA2B2A5}"/>
              </a:ext>
            </a:extLst>
          </p:cNvPr>
          <p:cNvSpPr txBox="1"/>
          <p:nvPr/>
        </p:nvSpPr>
        <p:spPr>
          <a:xfrm>
            <a:off x="1219200" y="3619500"/>
            <a:ext cx="10363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dirty="0"/>
              <a:t>To develop an integrated elderly-care system that monitors health and safety information, detects emergency situations, sends alerts to guardians, and provides an easy-to-use interface for elderly users, caregivers, and doctors.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35362" y="3518408"/>
            <a:ext cx="8819689" cy="4826791"/>
          </a:xfrm>
          <a:custGeom>
            <a:avLst/>
            <a:gdLst/>
            <a:ahLst/>
            <a:cxnLst/>
            <a:rect l="l" t="t" r="r" b="b"/>
            <a:pathLst>
              <a:path w="11807767" h="5461092">
                <a:moveTo>
                  <a:pt x="0" y="0"/>
                </a:moveTo>
                <a:lnTo>
                  <a:pt x="11807766" y="0"/>
                </a:lnTo>
                <a:lnTo>
                  <a:pt x="11807766" y="5461092"/>
                </a:lnTo>
                <a:lnTo>
                  <a:pt x="0" y="5461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5257800" y="685991"/>
            <a:ext cx="6533689" cy="1173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96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03674" y="2276637"/>
            <a:ext cx="8376745" cy="7310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Monitor vital signs such as heart rate, temperature, SpO₂, and blood pressure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Detect falls and emergency situations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Send SOS notifications to guardians or caregivers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Provide medicine and appointment reminders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Maintain health logs for doctors and family members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Support simple, multilingual, senior-friendly interaction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171950" y="437535"/>
            <a:ext cx="10134600" cy="1173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53"/>
              </a:lnSpc>
            </a:pPr>
            <a:r>
              <a:rPr lang="en-US" sz="7994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PHASE I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A8672-C0A3-FCAA-08F7-4EEBA89A31E7}"/>
              </a:ext>
            </a:extLst>
          </p:cNvPr>
          <p:cNvSpPr txBox="1"/>
          <p:nvPr/>
        </p:nvSpPr>
        <p:spPr>
          <a:xfrm>
            <a:off x="3295650" y="2476500"/>
            <a:ext cx="11887200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dirty="0"/>
              <a:t>During Phase I, the project focused on planning, requirement analysis, and prototype design.</a:t>
            </a:r>
          </a:p>
          <a:p>
            <a:pPr algn="just">
              <a:lnSpc>
                <a:spcPct val="150000"/>
              </a:lnSpc>
              <a:buNone/>
            </a:pPr>
            <a:endParaRPr lang="en-IN" sz="3200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Identified problems faced by elderly people and caregivers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Conducted system requirement analysis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Designed the overall architecture and user flow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Created initial dashboard and interface prototypes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200" dirty="0"/>
              <a:t>Planned modules for vital monitoring, emergency alerts, reminders, and guardian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4B46-728A-34DC-450F-A17196B0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200" y="800100"/>
            <a:ext cx="8991600" cy="1066800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PHASE II SUMMARY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6741237-F9F2-588C-CA8E-337E3EA1F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442219"/>
            <a:ext cx="160020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3200" dirty="0"/>
              <a:t>During Phase II, the planned features were developed and integrated into the working prototype.</a:t>
            </a:r>
          </a:p>
          <a:p>
            <a:pPr algn="just"/>
            <a:endParaRPr lang="en-IN" sz="32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ESP32-S3-WROOM-1</a:t>
            </a:r>
            <a:r>
              <a:rPr lang="en-IN" sz="3200" dirty="0"/>
              <a:t>: Main controller with Wi-Fi and Bluetooth connectivity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MAX30102</a:t>
            </a:r>
            <a:r>
              <a:rPr lang="en-IN" sz="3200" dirty="0"/>
              <a:t>: Measures heart rate and SpO₂ level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MAX30205</a:t>
            </a:r>
            <a:r>
              <a:rPr lang="en-IN" sz="3200" dirty="0"/>
              <a:t>: Monitors body temperature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MPU6050</a:t>
            </a:r>
            <a:r>
              <a:rPr lang="en-IN" sz="3200" dirty="0"/>
              <a:t>: Supports fall detection and activity monitoring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OLED Display</a:t>
            </a:r>
            <a:r>
              <a:rPr lang="en-IN" sz="3200" dirty="0"/>
              <a:t>: Shows vital signs, battery status, GPS status, and alerts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NEO-6M GPS</a:t>
            </a:r>
            <a:r>
              <a:rPr lang="en-IN" sz="3200" dirty="0"/>
              <a:t>: Tracks location and sends alerts during emergencies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SOS Button, Buzzer &amp; Vibration Motor</a:t>
            </a:r>
            <a:r>
              <a:rPr lang="en-IN" sz="3200" dirty="0"/>
              <a:t>: Enables immediate manual emergency activation and user notifications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RTC, Li-Po Battery, Charger &amp; Regulator</a:t>
            </a:r>
            <a:r>
              <a:rPr lang="en-IN" sz="3200" dirty="0"/>
              <a:t>: Ensures accurate event logging and reliable portable power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b="1" dirty="0"/>
              <a:t>PCB &amp; Enclosure</a:t>
            </a:r>
            <a:r>
              <a:rPr lang="en-IN" sz="3200" dirty="0"/>
              <a:t>: Makes the system compact, durable, and wearable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3200" dirty="0"/>
              <a:t>Estimated hardware cost: </a:t>
            </a:r>
            <a:r>
              <a:rPr lang="en-IN" sz="3200" b="1" dirty="0"/>
              <a:t>around ₹6,000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536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D12C-31A5-0B4C-5B43-2DD698DA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706363"/>
            <a:ext cx="13487400" cy="1219200"/>
          </a:xfrm>
        </p:spPr>
        <p:txBody>
          <a:bodyPr/>
          <a:lstStyle/>
          <a:p>
            <a:pPr algn="ctr"/>
            <a:r>
              <a:rPr lang="en-IN" dirty="0">
                <a:latin typeface="Cinzel Bold" panose="020B0604020202020204" charset="0"/>
              </a:rPr>
              <a:t>IMPLEMENTATION PROGRESS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7A110F9-09C9-A9E7-F949-4DB9C1C1FAB1}"/>
              </a:ext>
            </a:extLst>
          </p:cNvPr>
          <p:cNvGrpSpPr/>
          <p:nvPr/>
        </p:nvGrpSpPr>
        <p:grpSpPr>
          <a:xfrm>
            <a:off x="1371600" y="2091194"/>
            <a:ext cx="6074400" cy="1219200"/>
            <a:chOff x="0" y="0"/>
            <a:chExt cx="2044444" cy="45986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38C4E40-08E2-5A20-06B6-DF736C4DF453}"/>
                </a:ext>
              </a:extLst>
            </p:cNvPr>
            <p:cNvSpPr/>
            <p:nvPr/>
          </p:nvSpPr>
          <p:spPr>
            <a:xfrm>
              <a:off x="0" y="0"/>
              <a:ext cx="2044444" cy="459860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7B6848F8-F495-6EB3-F0F4-D44919F6F3F5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18" name="TextBox 19">
            <a:extLst>
              <a:ext uri="{FF2B5EF4-FFF2-40B4-BE49-F238E27FC236}">
                <a16:creationId xmlns:a16="http://schemas.microsoft.com/office/drawing/2014/main" id="{D89C43EC-CECA-0BBA-5F07-C80FBC43307F}"/>
              </a:ext>
            </a:extLst>
          </p:cNvPr>
          <p:cNvSpPr txBox="1"/>
          <p:nvPr/>
        </p:nvSpPr>
        <p:spPr>
          <a:xfrm>
            <a:off x="950495" y="2700794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MODULES COMPLETED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02531E-4663-3E7F-538D-A3F819E1F7E5}"/>
              </a:ext>
            </a:extLst>
          </p:cNvPr>
          <p:cNvSpPr txBox="1"/>
          <p:nvPr/>
        </p:nvSpPr>
        <p:spPr>
          <a:xfrm>
            <a:off x="950495" y="3476025"/>
            <a:ext cx="6974305" cy="584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User authentication and role-based access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Elderly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Guardian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Vital signs monitoring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SOS emergency alert system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Medicine reminders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Health and activity logs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Doctor portal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800" dirty="0"/>
              <a:t>Multilingual interface support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C64F6CC3-E6E6-E933-5D23-B6E27D7F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9D10A4F-9FF9-4270-C89D-2AEA1CBA3CB1}"/>
              </a:ext>
            </a:extLst>
          </p:cNvPr>
          <p:cNvGrpSpPr/>
          <p:nvPr/>
        </p:nvGrpSpPr>
        <p:grpSpPr>
          <a:xfrm>
            <a:off x="10495547" y="2195972"/>
            <a:ext cx="6074400" cy="1168694"/>
            <a:chOff x="0" y="9525"/>
            <a:chExt cx="2044444" cy="4503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E0D9933-23A8-D589-35DE-82DDC6200EC6}"/>
                </a:ext>
              </a:extLst>
            </p:cNvPr>
            <p:cNvSpPr/>
            <p:nvPr/>
          </p:nvSpPr>
          <p:spPr>
            <a:xfrm>
              <a:off x="0" y="9525"/>
              <a:ext cx="2044444" cy="450335"/>
            </a:xfrm>
            <a:custGeom>
              <a:avLst/>
              <a:gdLst/>
              <a:ahLst/>
              <a:cxnLst/>
              <a:rect l="l" t="t" r="r" b="b"/>
              <a:pathLst>
                <a:path w="2044444" h="459860">
                  <a:moveTo>
                    <a:pt x="1841244" y="0"/>
                  </a:moveTo>
                  <a:cubicBezTo>
                    <a:pt x="1953468" y="0"/>
                    <a:pt x="2044444" y="102943"/>
                    <a:pt x="2044444" y="229930"/>
                  </a:cubicBezTo>
                  <a:cubicBezTo>
                    <a:pt x="2044444" y="356917"/>
                    <a:pt x="1953468" y="459860"/>
                    <a:pt x="1841244" y="459860"/>
                  </a:cubicBezTo>
                  <a:lnTo>
                    <a:pt x="203200" y="459860"/>
                  </a:lnTo>
                  <a:cubicBezTo>
                    <a:pt x="90976" y="459860"/>
                    <a:pt x="0" y="356917"/>
                    <a:pt x="0" y="229930"/>
                  </a:cubicBezTo>
                  <a:cubicBezTo>
                    <a:pt x="0" y="102943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7F1FF">
                    <a:alpha val="35000"/>
                  </a:srgbClr>
                </a:gs>
                <a:gs pos="25000">
                  <a:srgbClr val="E8F1FF">
                    <a:alpha val="45000"/>
                  </a:srgbClr>
                </a:gs>
                <a:gs pos="50000">
                  <a:srgbClr val="E5EFFE">
                    <a:alpha val="55000"/>
                  </a:srgbClr>
                </a:gs>
                <a:gs pos="75000">
                  <a:srgbClr val="E8F1FE">
                    <a:alpha val="45000"/>
                  </a:srgbClr>
                </a:gs>
                <a:gs pos="100000">
                  <a:srgbClr val="E8F1FE">
                    <a:alpha val="35000"/>
                  </a:srgbClr>
                </a:gs>
              </a:gsLst>
              <a:lin ang="2700000"/>
            </a:gradFill>
            <a:ln w="19050" cap="sq">
              <a:solidFill>
                <a:srgbClr val="E9F2FE"/>
              </a:solidFill>
              <a:prstDash val="solid"/>
              <a:miter/>
            </a:ln>
          </p:spPr>
          <p:txBody>
            <a:bodyPr/>
            <a:lstStyle/>
            <a:p>
              <a:pPr algn="ctr"/>
              <a:endParaRPr lang="en-IN" sz="3600" b="1" dirty="0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C828BC3-903D-798E-825E-C995D1BF2C04}"/>
                </a:ext>
              </a:extLst>
            </p:cNvPr>
            <p:cNvSpPr txBox="1"/>
            <p:nvPr/>
          </p:nvSpPr>
          <p:spPr>
            <a:xfrm>
              <a:off x="0" y="9525"/>
              <a:ext cx="2044444" cy="450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81"/>
                </a:lnSpc>
              </a:pPr>
              <a:endParaRPr/>
            </a:p>
          </p:txBody>
        </p:sp>
      </p:grpSp>
      <p:sp>
        <p:nvSpPr>
          <p:cNvPr id="21" name="TextBox 19">
            <a:extLst>
              <a:ext uri="{FF2B5EF4-FFF2-40B4-BE49-F238E27FC236}">
                <a16:creationId xmlns:a16="http://schemas.microsoft.com/office/drawing/2014/main" id="{D2ED9C36-9700-A632-7CD9-E71CEDF5B783}"/>
              </a:ext>
            </a:extLst>
          </p:cNvPr>
          <p:cNvSpPr txBox="1"/>
          <p:nvPr/>
        </p:nvSpPr>
        <p:spPr>
          <a:xfrm>
            <a:off x="10495547" y="2700793"/>
            <a:ext cx="6074400" cy="356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10"/>
              </a:lnSpc>
            </a:pPr>
            <a:r>
              <a:rPr lang="en-US" sz="36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CURRENT 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1D7973-B113-9A3F-AA92-50E3F3D695BA}"/>
              </a:ext>
            </a:extLst>
          </p:cNvPr>
          <p:cNvSpPr txBox="1"/>
          <p:nvPr/>
        </p:nvSpPr>
        <p:spPr>
          <a:xfrm>
            <a:off x="10094495" y="3634055"/>
            <a:ext cx="724301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800" dirty="0"/>
              <a:t>The web-based Guardian Care prototype is functional and demonstrates the main workflow between elderly users, guardians, and doctors. The system currently uses demo/simulated data for health monitoring and alerts. Future work can connect it to wearable sensors and cloud-based real-time databases.</a:t>
            </a:r>
          </a:p>
        </p:txBody>
      </p:sp>
    </p:spTree>
    <p:extLst>
      <p:ext uri="{BB962C8B-B14F-4D97-AF65-F5344CB8AC3E}">
        <p14:creationId xmlns:p14="http://schemas.microsoft.com/office/powerpoint/2010/main" val="93083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9A72-D64D-2459-B87C-F23F7006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041" y="571500"/>
            <a:ext cx="5569915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PROTOTYPE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F8E53-EF62-D14F-553F-3D56FA349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714500"/>
            <a:ext cx="18336100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9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B28ADB-6D2F-3CDE-C57E-D7CB3C56E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5714" cy="10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15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12B7C0-F2B9-4525-3D43-DB8F0ABB1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29" y="647700"/>
            <a:ext cx="17244942" cy="89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03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114792-DDC1-CBBB-57C7-CA795EC69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5" y="571500"/>
            <a:ext cx="17546469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74210E-5247-1DBA-8A53-A5EFF29F4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0100"/>
            <a:ext cx="16687799" cy="88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72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2FFBB-200D-DFAC-B8DC-E2C28D69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2500"/>
            <a:ext cx="16535400" cy="86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7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25158-8D3D-FCE0-213B-D6A14681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6687799" cy="87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90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15B1-EC1E-7403-8679-C1BA468AC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800100"/>
            <a:ext cx="4053230" cy="1015663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E4C51-EE91-8483-DBE4-FA5691DEDE56}"/>
              </a:ext>
            </a:extLst>
          </p:cNvPr>
          <p:cNvSpPr txBox="1"/>
          <p:nvPr/>
        </p:nvSpPr>
        <p:spPr>
          <a:xfrm>
            <a:off x="4495800" y="2552700"/>
            <a:ext cx="101346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Functional G-Care healthcare monitoring system.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Real-time monitoring of vital parameters.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Doctor, caretaker, guardian, and patient modules.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Medicine reminders and health alerts.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Proposed ESP32-based hardware prototype.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Health data transmission to the G-Care application.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/>
              <a:t>Improved remote healthcare monitoring and timely assistance.</a:t>
            </a:r>
          </a:p>
        </p:txBody>
      </p:sp>
    </p:spTree>
    <p:extLst>
      <p:ext uri="{BB962C8B-B14F-4D97-AF65-F5344CB8AC3E}">
        <p14:creationId xmlns:p14="http://schemas.microsoft.com/office/powerpoint/2010/main" val="3781350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3848100"/>
            <a:ext cx="10396590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N" sz="2800" dirty="0"/>
              <a:t>Guardian Care demonstrates how digital health technology can support safer and more independent living for elderly people.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The system combines health monitoring, emergency alerts, medication reminders, and remote caregiver access in one platform. With wearable-device integration and real-time data storage, Guardian Care can become a practical solution for modern elderly healthcare.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67100" y="836696"/>
            <a:ext cx="11353800" cy="137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chemeClr val="tx2">
                    <a:lumMod val="75000"/>
                  </a:schemeClr>
                </a:solidFill>
                <a:latin typeface="Cinzel Bold"/>
                <a:ea typeface="Cinzel Bold"/>
                <a:cs typeface="Cinzel Bold"/>
                <a:sym typeface="Cinzel Bold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2805629" y="2244724"/>
            <a:ext cx="4593073" cy="8075732"/>
          </a:xfrm>
          <a:custGeom>
            <a:avLst/>
            <a:gdLst/>
            <a:ahLst/>
            <a:cxnLst/>
            <a:rect l="l" t="t" r="r" b="b"/>
            <a:pathLst>
              <a:path w="4593073" h="8075732">
                <a:moveTo>
                  <a:pt x="0" y="0"/>
                </a:moveTo>
                <a:lnTo>
                  <a:pt x="4593073" y="0"/>
                </a:lnTo>
                <a:lnTo>
                  <a:pt x="4593073" y="8075733"/>
                </a:lnTo>
                <a:lnTo>
                  <a:pt x="0" y="807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3505200" y="7505700"/>
            <a:ext cx="5105400" cy="425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G-care - Future of  Health Care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0D30-02F3-B8EF-887E-78EC3451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0" y="1104900"/>
            <a:ext cx="5943600" cy="1015663"/>
          </a:xfrm>
        </p:spPr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inzel Bold" panose="020B0604020202020204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3EFED1-7CBF-5CEB-DE9A-43DF22F0A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95600" y="3009900"/>
            <a:ext cx="12954000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Wan, J. et al., “Wearable IoT Enabled Real-Time Health Monitoring System,” EURASIP Journal, 2018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Durán-Vega, L.A. et al., “IoT System for Remote Health Monitoring,” 2019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Stavropoulos, T.G.et al., “IoT Wearable Sensors in Elderly Care,” 2020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Efendi, A. et al., “IoT-Based Elderly Monitoring Using Firebase,” 2025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 Detection using Wearable Sensors Study </a:t>
            </a:r>
          </a:p>
        </p:txBody>
      </p:sp>
    </p:spTree>
    <p:extLst>
      <p:ext uri="{BB962C8B-B14F-4D97-AF65-F5344CB8AC3E}">
        <p14:creationId xmlns:p14="http://schemas.microsoft.com/office/powerpoint/2010/main" val="1743876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814</Words>
  <Application>Microsoft Office PowerPoint</Application>
  <PresentationFormat>Custom</PresentationFormat>
  <Paragraphs>114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Times New Roman</vt:lpstr>
      <vt:lpstr>Arial</vt:lpstr>
      <vt:lpstr>Cinzel Bold</vt:lpstr>
      <vt:lpstr>Wingdings</vt:lpstr>
      <vt:lpstr>Public Sans Bold</vt:lpstr>
      <vt:lpstr>Calibri</vt:lpstr>
      <vt:lpstr>The Seasons</vt:lpstr>
      <vt:lpstr>Office Theme</vt:lpstr>
      <vt:lpstr>1_Office Theme</vt:lpstr>
      <vt:lpstr>2_Office Theme</vt:lpstr>
      <vt:lpstr>3_Office Theme</vt:lpstr>
      <vt:lpstr>Department of CSE(AI&amp;ML)  Academic year: 2026-27</vt:lpstr>
      <vt:lpstr>CONTENTS</vt:lpstr>
      <vt:lpstr> INTRODUCTION</vt:lpstr>
      <vt:lpstr>BACKGROUND OF THE PROBLEM</vt:lpstr>
      <vt:lpstr>MOTIVATION</vt:lpstr>
      <vt:lpstr>PowerPoint Presentation</vt:lpstr>
      <vt:lpstr>PowerPoint Presentation</vt:lpstr>
      <vt:lpstr>PowerPoint Presentation</vt:lpstr>
      <vt:lpstr>PHASE II SUMMARY</vt:lpstr>
      <vt:lpstr>IMPLEMENTATION PROGRESS</vt:lpstr>
      <vt:lpstr>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Topic:G-Care</dc:title>
  <dc:creator>Yeshrutha Gowda</dc:creator>
  <cp:lastModifiedBy>Yeshrutha Gowda</cp:lastModifiedBy>
  <cp:revision>9</cp:revision>
  <dcterms:created xsi:type="dcterms:W3CDTF">2006-08-16T00:00:00Z</dcterms:created>
  <dcterms:modified xsi:type="dcterms:W3CDTF">2026-08-19T07:16:51Z</dcterms:modified>
  <dc:identifier>DAHFmgBOoE0</dc:identifier>
</cp:coreProperties>
</file>